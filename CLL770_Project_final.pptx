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1"/>
  </p:sldMasterIdLst>
  <p:notesMasterIdLst>
    <p:notesMasterId r:id="rId17"/>
  </p:notesMasterIdLst>
  <p:sldIdLst>
    <p:sldId id="286" r:id="rId2"/>
    <p:sldId id="272" r:id="rId3"/>
    <p:sldId id="273" r:id="rId4"/>
    <p:sldId id="283" r:id="rId5"/>
    <p:sldId id="284" r:id="rId6"/>
    <p:sldId id="274" r:id="rId7"/>
    <p:sldId id="281" r:id="rId8"/>
    <p:sldId id="280" r:id="rId9"/>
    <p:sldId id="275" r:id="rId10"/>
    <p:sldId id="276" r:id="rId11"/>
    <p:sldId id="277" r:id="rId12"/>
    <p:sldId id="279" r:id="rId13"/>
    <p:sldId id="282" r:id="rId14"/>
    <p:sldId id="278" r:id="rId15"/>
    <p:sldId id="285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15523E-AF69-BABC-5688-F6CF1ECE39C0}" v="1" dt="2025-11-13T04:12:41.183"/>
    <p1510:client id="{49433FB3-5D2D-D984-2A5C-6C22635B5D2C}" v="1950" dt="2025-11-12T18:20:03.729"/>
    <p1510:client id="{51104005-FBF2-4472-B72D-111CE45A950E}" v="44" dt="2025-11-12T10:05:22.153"/>
    <p1510:client id="{B0974038-9344-24B5-DD8A-8B47C8B3A459}" v="24" dt="2025-11-11T18:26:16.405"/>
    <p1510:client id="{E7EDC8E2-63BA-1554-AECA-A08B88726A7F}" v="393" dt="2025-11-13T04:53:35.374"/>
  </p1510:revLst>
</p1510:revInfo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6DFFF5-D800-4614-ACB3-30C780AA4D3C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82E8E9-86F1-4036-AC02-F510BA561E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0342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IN" b="1"/>
                  <a:t>Overall goal</a:t>
                </a:r>
                <a:br>
                  <a:rPr lang="en-IN"/>
                </a:br>
                <a:r>
                  <a:rPr lang="en-IN"/>
                  <a:t>Explain that you wanted to quantify </a:t>
                </a:r>
                <a:r>
                  <a:rPr lang="en-IN" i="1"/>
                  <a:t>which parameters most affect</a:t>
                </a:r>
                <a:r>
                  <a:rPr lang="en-IN"/>
                  <a:t> model outputs so future 2-D/3-D simulations or optimizations focus only on the critical ones.</a:t>
                </a:r>
              </a:p>
              <a:p>
                <a:r>
                  <a:rPr lang="en-IN" b="1"/>
                  <a:t>2️⃣ Stage 1 (Local OAT)</a:t>
                </a:r>
                <a:endParaRPr lang="en-IN"/>
              </a:p>
              <a:p>
                <a:r>
                  <a:rPr lang="en-IN"/>
                  <a:t>Each rheological or transport parameter (</a:t>
                </a:r>
                <a:r>
                  <a:rPr lang="el-GR"/>
                  <a:t>μ₀, μ</a:t>
                </a:r>
                <a:r>
                  <a:rPr lang="en-IN"/>
                  <a:t>ᵢ, </a:t>
                </a:r>
                <a:r>
                  <a:rPr lang="el-GR"/>
                  <a:t>λ, </a:t>
                </a:r>
                <a:r>
                  <a:rPr lang="en-IN"/>
                  <a:t>a, n for Non-Newtonian; D, U, Pe for Mixing) is changed one at a time by ± </a:t>
                </a:r>
                <a:r>
                  <a:rPr lang="el-GR"/>
                  <a:t>Δ (≈ 10 %).</a:t>
                </a:r>
              </a:p>
              <a:p>
                <a:r>
                  <a:rPr lang="en-IN"/>
                  <a:t>For each change, the solver recomputes Uₘₐₓ and Q.</a:t>
                </a:r>
              </a:p>
              <a:p>
                <a:r>
                  <a:rPr lang="en-IN"/>
                  <a:t>Sensitivity coefficient used: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𝑆</m:t>
                          </m:r>
                        </m:e>
                        <m:sub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𝑝</m:t>
                          </m:r>
                        </m:sub>
                      </m:sSub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𝑂</m:t>
                          </m:r>
                          <m:d>
                            <m:d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𝑝</m:t>
                              </m:r>
                              <m:r>
                                <a:rPr lang="ar-AE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l-GR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Δ</m:t>
                              </m:r>
                              <m:r>
                                <a:rPr lang="el-GR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𝑝</m:t>
                              </m:r>
                            </m:e>
                          </m:d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𝑂</m:t>
                          </m:r>
                          <m:d>
                            <m:d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𝑝</m:t>
                              </m:r>
                              <m:r>
                                <a:rPr lang="ar-AE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l-GR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Δ</m:t>
                              </m:r>
                              <m:r>
                                <a:rPr lang="el-GR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𝑝</m:t>
                              </m:r>
                            </m:e>
                          </m:d>
                        </m:num>
                        <m:den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l-GR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Δ</m:t>
                          </m:r>
                          <m:r>
                            <a:rPr lang="el-GR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𝑝</m:t>
                          </m:r>
                        </m:den>
                      </m:f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⋅</m:t>
                      </m:r>
                      <m:f>
                        <m:f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𝑝</m:t>
                          </m:r>
                        </m:num>
                        <m:den>
                          <m:sSub>
                            <m:sSub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𝑏𝑎𝑠𝑒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ar-AE"/>
              </a:p>
              <a:p>
                <a:r>
                  <a:rPr lang="en-IN"/>
                  <a:t>This gives a unitless measure → “% change in output per % change in parameter.”</a:t>
                </a:r>
              </a:p>
              <a:p>
                <a:r>
                  <a:rPr lang="en-IN"/>
                  <a:t>Results plotted as tornado charts for easy comparison.</a:t>
                </a:r>
              </a:p>
              <a:p>
                <a:r>
                  <a:rPr lang="en-IN"/>
                  <a:t>It assumes the response is roughly linear and parameters don’t interact.</a:t>
                </a:r>
                <a:br>
                  <a:rPr lang="en-IN"/>
                </a:br>
                <a:r>
                  <a:rPr lang="en-IN"/>
                  <a:t>That’s why you need </a:t>
                </a:r>
                <a:r>
                  <a:rPr lang="en-IN" b="1"/>
                  <a:t>Stage 2</a:t>
                </a:r>
                <a:r>
                  <a:rPr lang="en-IN"/>
                  <a:t> afterward.</a:t>
                </a:r>
              </a:p>
              <a:p>
                <a:endParaRPr lang="en-IN"/>
              </a:p>
              <a:p>
                <a:r>
                  <a:rPr lang="en-IN" b="1"/>
                  <a:t>3️⃣ Stage 2 (Global Morris)</a:t>
                </a:r>
                <a:endParaRPr lang="en-IN"/>
              </a:p>
              <a:p>
                <a:r>
                  <a:rPr lang="en-IN"/>
                  <a:t>Uses the </a:t>
                </a:r>
                <a:r>
                  <a:rPr lang="en-IN" i="1"/>
                  <a:t>Morris method</a:t>
                </a:r>
                <a:r>
                  <a:rPr lang="en-IN"/>
                  <a:t> = sample parameters over a grid of levels; compute “elementary effects” (EEs).</a:t>
                </a:r>
              </a:p>
              <a:p>
                <a:r>
                  <a:rPr lang="en-IN"/>
                  <a:t>Statistics </a:t>
                </a:r>
                <a:r>
                  <a:rPr lang="el-GR"/>
                  <a:t>μ* (</a:t>
                </a:r>
                <a:r>
                  <a:rPr lang="en-IN"/>
                  <a:t>mean |EE|) → overall importance; </a:t>
                </a:r>
                <a:r>
                  <a:rPr lang="el-GR"/>
                  <a:t>σ → </a:t>
                </a:r>
                <a:r>
                  <a:rPr lang="en-IN"/>
                  <a:t>non-linearity / interactions.</a:t>
                </a:r>
              </a:p>
              <a:p>
                <a:r>
                  <a:rPr lang="en-IN"/>
                  <a:t>Plotted </a:t>
                </a:r>
                <a:r>
                  <a:rPr lang="el-GR"/>
                  <a:t>μ*–σ </a:t>
                </a:r>
                <a:r>
                  <a:rPr lang="en-IN"/>
                  <a:t>scatter → parameters far from origin = most influential.</a:t>
                </a:r>
              </a:p>
              <a:p>
                <a:r>
                  <a:rPr lang="en-IN"/>
                  <a:t>Provides a robust view beyond simple linear sensitivity.</a:t>
                </a:r>
              </a:p>
              <a:p>
                <a:r>
                  <a:rPr lang="en-IN" b="1"/>
                  <a:t>4️⃣ Implementation details</a:t>
                </a:r>
                <a:endParaRPr lang="en-IN"/>
              </a:p>
              <a:p>
                <a:r>
                  <a:rPr lang="en-IN"/>
                  <a:t>Both scripts reuse the same 1-D Carreau–Yasuda or Mixing solvers from the paper’s repo.</a:t>
                </a:r>
              </a:p>
              <a:p>
                <a:r>
                  <a:rPr lang="en-IN"/>
                  <a:t>Each run produces CSV files + plots (for Uₘₐₓ, Q or AMI).</a:t>
                </a:r>
              </a:p>
              <a:p>
                <a:r>
                  <a:rPr lang="en-IN"/>
                  <a:t>1-D models chosen for speed and interpretability before attempting any 2-D validation.</a:t>
                </a:r>
              </a:p>
              <a:p>
                <a:r>
                  <a:rPr lang="en-IN" b="1"/>
                  <a:t>5️⃣ Key takeaway for this slide</a:t>
                </a:r>
                <a:endParaRPr lang="en-IN"/>
              </a:p>
              <a:p>
                <a:r>
                  <a:rPr lang="en-IN"/>
                  <a:t>“We combined local (OAT) and global (Morris) analyses on the fast 1-D solvers to rank parameters and understand how rheological and transport properties drive flow and mixing </a:t>
                </a:r>
                <a:r>
                  <a:rPr lang="en-IN" err="1"/>
                  <a:t>behavior</a:t>
                </a:r>
                <a:r>
                  <a:rPr lang="en-IN"/>
                  <a:t>.”</a:t>
                </a:r>
              </a:p>
              <a:p>
                <a:endParaRPr lang="en-IN"/>
              </a:p>
              <a:p>
                <a:endParaRPr lang="en-US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IN" b="1"/>
                  <a:t>Overall goal</a:t>
                </a:r>
                <a:br>
                  <a:rPr lang="en-IN"/>
                </a:br>
                <a:r>
                  <a:rPr lang="en-IN"/>
                  <a:t>Explain that you wanted to quantify </a:t>
                </a:r>
                <a:r>
                  <a:rPr lang="en-IN" i="1"/>
                  <a:t>which parameters most affect</a:t>
                </a:r>
                <a:r>
                  <a:rPr lang="en-IN"/>
                  <a:t> model outputs so future 2-D/3-D simulations or optimizations focus only on the critical ones.</a:t>
                </a:r>
              </a:p>
              <a:p>
                <a:r>
                  <a:rPr lang="en-IN" b="1"/>
                  <a:t>2️⃣ Stage 1 (Local OAT)</a:t>
                </a:r>
                <a:endParaRPr lang="en-IN"/>
              </a:p>
              <a:p>
                <a:r>
                  <a:rPr lang="en-IN"/>
                  <a:t>Each rheological or transport parameter (</a:t>
                </a:r>
                <a:r>
                  <a:rPr lang="el-GR"/>
                  <a:t>μ₀, μ</a:t>
                </a:r>
                <a:r>
                  <a:rPr lang="en-IN"/>
                  <a:t>ᵢ, </a:t>
                </a:r>
                <a:r>
                  <a:rPr lang="el-GR"/>
                  <a:t>λ, </a:t>
                </a:r>
                <a:r>
                  <a:rPr lang="en-IN"/>
                  <a:t>a, n for Non-Newtonian; D, U, Pe for Mixing) is changed one at a time by ± </a:t>
                </a:r>
                <a:r>
                  <a:rPr lang="el-GR"/>
                  <a:t>Δ (≈ 10 %).</a:t>
                </a:r>
              </a:p>
              <a:p>
                <a:r>
                  <a:rPr lang="en-IN"/>
                  <a:t>For each change, the solver recomputes Uₘₐₓ and Q.</a:t>
                </a:r>
              </a:p>
              <a:p>
                <a:r>
                  <a:rPr lang="en-IN"/>
                  <a:t>Sensitivity coefficient used:</a:t>
                </a:r>
              </a:p>
              <a:p>
                <a:pPr/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𝑆_𝑝=(𝑂(𝑝+</a:t>
                </a:r>
                <a:r>
                  <a:rPr lang="el-GR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Δ𝑝)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−𝑂(𝑝−</a:t>
                </a:r>
                <a:r>
                  <a:rPr lang="el-GR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Δ𝑝)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)/2</a:t>
                </a:r>
                <a:r>
                  <a:rPr lang="el-GR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Δ𝑝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⋅𝑝/𝑂_𝑏𝑎𝑠𝑒 </a:t>
                </a:r>
                <a:endParaRPr lang="ar-AE"/>
              </a:p>
              <a:p>
                <a:r>
                  <a:rPr lang="en-IN"/>
                  <a:t>This gives a unitless measure → “% change in output per % change in parameter.”</a:t>
                </a:r>
              </a:p>
              <a:p>
                <a:r>
                  <a:rPr lang="en-IN"/>
                  <a:t>Results plotted as tornado charts for easy comparison.</a:t>
                </a:r>
              </a:p>
              <a:p>
                <a:r>
                  <a:rPr lang="en-IN"/>
                  <a:t>It assumes the response is roughly linear and parameters don’t interact.</a:t>
                </a:r>
                <a:br>
                  <a:rPr lang="en-IN"/>
                </a:br>
                <a:r>
                  <a:rPr lang="en-IN"/>
                  <a:t>That’s why you need </a:t>
                </a:r>
                <a:r>
                  <a:rPr lang="en-IN" b="1"/>
                  <a:t>Stage 2</a:t>
                </a:r>
                <a:r>
                  <a:rPr lang="en-IN"/>
                  <a:t> afterward.</a:t>
                </a:r>
              </a:p>
              <a:p>
                <a:endParaRPr lang="en-IN"/>
              </a:p>
              <a:p>
                <a:r>
                  <a:rPr lang="en-IN" b="1"/>
                  <a:t>3️⃣ Stage 2 (Global Morris)</a:t>
                </a:r>
                <a:endParaRPr lang="en-IN"/>
              </a:p>
              <a:p>
                <a:r>
                  <a:rPr lang="en-IN"/>
                  <a:t>Uses the </a:t>
                </a:r>
                <a:r>
                  <a:rPr lang="en-IN" i="1"/>
                  <a:t>Morris method</a:t>
                </a:r>
                <a:r>
                  <a:rPr lang="en-IN"/>
                  <a:t> = sample parameters over a grid of levels; compute “elementary effects” (EEs).</a:t>
                </a:r>
              </a:p>
              <a:p>
                <a:r>
                  <a:rPr lang="en-IN"/>
                  <a:t>Statistics </a:t>
                </a:r>
                <a:r>
                  <a:rPr lang="el-GR"/>
                  <a:t>μ* (</a:t>
                </a:r>
                <a:r>
                  <a:rPr lang="en-IN"/>
                  <a:t>mean |EE|) → overall importance; </a:t>
                </a:r>
                <a:r>
                  <a:rPr lang="el-GR"/>
                  <a:t>σ → </a:t>
                </a:r>
                <a:r>
                  <a:rPr lang="en-IN"/>
                  <a:t>non-linearity / interactions.</a:t>
                </a:r>
              </a:p>
              <a:p>
                <a:r>
                  <a:rPr lang="en-IN"/>
                  <a:t>Plotted </a:t>
                </a:r>
                <a:r>
                  <a:rPr lang="el-GR"/>
                  <a:t>μ*–σ </a:t>
                </a:r>
                <a:r>
                  <a:rPr lang="en-IN"/>
                  <a:t>scatter → parameters far from origin = most influential.</a:t>
                </a:r>
              </a:p>
              <a:p>
                <a:r>
                  <a:rPr lang="en-IN"/>
                  <a:t>Provides a robust view beyond simple linear sensitivity.</a:t>
                </a:r>
              </a:p>
              <a:p>
                <a:r>
                  <a:rPr lang="en-IN" b="1"/>
                  <a:t>4️⃣ Implementation details</a:t>
                </a:r>
                <a:endParaRPr lang="en-IN"/>
              </a:p>
              <a:p>
                <a:r>
                  <a:rPr lang="en-IN"/>
                  <a:t>Both scripts reuse the same 1-D Carreau–Yasuda or Mixing solvers from the paper’s repo.</a:t>
                </a:r>
              </a:p>
              <a:p>
                <a:r>
                  <a:rPr lang="en-IN"/>
                  <a:t>Each run produces CSV files + plots (for Uₘₐₓ, Q or AMI).</a:t>
                </a:r>
              </a:p>
              <a:p>
                <a:r>
                  <a:rPr lang="en-IN"/>
                  <a:t>1-D models chosen for speed and interpretability before attempting any 2-D validation.</a:t>
                </a:r>
              </a:p>
              <a:p>
                <a:r>
                  <a:rPr lang="en-IN" b="1"/>
                  <a:t>5️⃣ Key takeaway for this slide</a:t>
                </a:r>
                <a:endParaRPr lang="en-IN"/>
              </a:p>
              <a:p>
                <a:r>
                  <a:rPr lang="en-IN"/>
                  <a:t>“We combined local (OAT) and global (Morris) analyses on the fast 1-D solvers to rank parameters and understand how rheological and transport properties drive flow and mixing </a:t>
                </a:r>
                <a:r>
                  <a:rPr lang="en-IN" err="1"/>
                  <a:t>behavior</a:t>
                </a:r>
                <a:r>
                  <a:rPr lang="en-IN"/>
                  <a:t>.”</a:t>
                </a:r>
              </a:p>
              <a:p>
                <a:endParaRPr lang="en-IN"/>
              </a:p>
              <a:p>
                <a:endParaRPr lang="en-US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82E8E9-86F1-4036-AC02-F510BA561E2B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26410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4A4CC-CBA8-4739-4FFB-279E56C06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401083-E490-D3A8-9EAB-A3BC710727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19CD2A-F5EB-945F-71A3-24914E2309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/>
              <a:t>Explain that a wider channel reduces diffusive overlap of species, hence higher AMI.</a:t>
            </a:r>
          </a:p>
          <a:p>
            <a:r>
              <a:rPr lang="en-IN"/>
              <a:t>Emphasize that these trends can guide design — narrower channels enhance mixing.</a:t>
            </a:r>
          </a:p>
          <a:p>
            <a:r>
              <a:rPr lang="en-IN"/>
              <a:t>Note that the global Morris analysis confirmed width as the key driver, consistent with intuition.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2D911D-F821-F559-298A-EC1ED22FF2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82E8E9-86F1-4036-AC02-F510BA561E2B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74256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F12E6-419A-81AB-8F62-34E475CA9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80E529-E9A8-9FD0-B23C-6DA341E861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3FC9AC-8918-C271-396B-441402EC08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/>
              <a:t>Explain that a wider channel reduces diffusive overlap of species, hence higher AMI.</a:t>
            </a:r>
          </a:p>
          <a:p>
            <a:r>
              <a:rPr lang="en-IN"/>
              <a:t>Emphasize that these trends can guide design — narrower channels enhance mixing.</a:t>
            </a:r>
          </a:p>
          <a:p>
            <a:r>
              <a:rPr lang="en-IN"/>
              <a:t>Note that the global Morris analysis confirmed width as the key driver, consistent with intuition.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022627-84A8-13C3-60B4-4E1F67D84F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82E8E9-86F1-4036-AC02-F510BA561E2B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85987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/>
              <a:t>Explain that “negative sensitivity” means increasing </a:t>
            </a:r>
            <a:r>
              <a:rPr lang="el-GR"/>
              <a:t>μ₀ </a:t>
            </a:r>
            <a:r>
              <a:rPr lang="en-IN"/>
              <a:t>decreases flow and velocity, as expected physically.</a:t>
            </a:r>
          </a:p>
          <a:p>
            <a:r>
              <a:rPr lang="en-IN"/>
              <a:t>Highlight that small bars for </a:t>
            </a:r>
            <a:r>
              <a:rPr lang="el-GR"/>
              <a:t>λ </a:t>
            </a:r>
            <a:r>
              <a:rPr lang="en-IN"/>
              <a:t>and </a:t>
            </a:r>
            <a:r>
              <a:rPr lang="el-GR"/>
              <a:t>μ</a:t>
            </a:r>
            <a:r>
              <a:rPr lang="en-IN"/>
              <a:t>ᵢ confirm that time-constant and infinite-shear viscosity have little influence in laminar regime.</a:t>
            </a:r>
          </a:p>
          <a:p>
            <a:r>
              <a:rPr lang="en-IN"/>
              <a:t>Conclude that </a:t>
            </a:r>
            <a:r>
              <a:rPr lang="el-GR"/>
              <a:t>μ₀ </a:t>
            </a:r>
            <a:r>
              <a:rPr lang="en-IN"/>
              <a:t>and a are the only significant levers for optimization.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82E8E9-86F1-4036-AC02-F510BA561E2B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1056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/>
              <a:t>Point out that clustering near origin means those parameters have low sensitivity and little interaction effect.</a:t>
            </a:r>
          </a:p>
          <a:p>
            <a:r>
              <a:rPr lang="en-IN"/>
              <a:t>Note that Stage-1 and Stage-2 are consistent — this strengthens confidence in 1D model fidelity.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82E8E9-86F1-4036-AC02-F510BA561E2B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35894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/>
              <a:t>Explain that a wider channel reduces diffusive overlap of species, hence higher AMI.</a:t>
            </a:r>
          </a:p>
          <a:p>
            <a:r>
              <a:rPr lang="en-IN"/>
              <a:t>Emphasize that these trends can guide design — narrower channels enhance mixing.</a:t>
            </a:r>
          </a:p>
          <a:p>
            <a:r>
              <a:rPr lang="en-IN"/>
              <a:t>Note that the global Morris analysis confirmed width as the key driver, consistent with intuition.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82E8E9-86F1-4036-AC02-F510BA561E2B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2915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/>
              <a:t>Reinforce that the study successfully fills the identified gap — quantifying parameter influence.</a:t>
            </a:r>
          </a:p>
          <a:p>
            <a:r>
              <a:rPr lang="en-IN"/>
              <a:t>Mention that 1D models can quickly screen parameters before performing costly 2D/3D simulations.</a:t>
            </a:r>
          </a:p>
          <a:p>
            <a:r>
              <a:rPr lang="en-IN"/>
              <a:t>End with a one-line takeaway:</a:t>
            </a:r>
          </a:p>
          <a:p>
            <a:r>
              <a:rPr lang="en-IN"/>
              <a:t>“We demonstrated that even simple 1D abstractions can yield meaningful design insights when combined with systematic sensitivity analysis.”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82E8E9-86F1-4036-AC02-F510BA561E2B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4793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 userDrawn="1"/>
        </p:nvGrpSpPr>
        <p:grpSpPr>
          <a:xfrm flipH="1">
            <a:off x="0" y="6477000"/>
            <a:ext cx="9083040" cy="0"/>
            <a:chOff x="0" y="1066800"/>
            <a:chExt cx="9083040" cy="0"/>
          </a:xfrm>
        </p:grpSpPr>
        <p:cxnSp>
          <p:nvCxnSpPr>
            <p:cNvPr id="21" name="Straight Connector 20"/>
            <p:cNvCxnSpPr/>
            <p:nvPr userDrawn="1"/>
          </p:nvCxnSpPr>
          <p:spPr>
            <a:xfrm>
              <a:off x="0" y="1066800"/>
              <a:ext cx="6248400" cy="0"/>
            </a:xfrm>
            <a:prstGeom prst="line">
              <a:avLst/>
            </a:prstGeom>
            <a:ln w="762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 userDrawn="1"/>
          </p:nvCxnSpPr>
          <p:spPr>
            <a:xfrm>
              <a:off x="6355080" y="1066800"/>
              <a:ext cx="838200" cy="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7299960" y="1066800"/>
              <a:ext cx="640080" cy="0"/>
            </a:xfrm>
            <a:prstGeom prst="line">
              <a:avLst/>
            </a:prstGeom>
            <a:ln w="762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>
            <a:xfrm>
              <a:off x="8046720" y="1066800"/>
              <a:ext cx="457200" cy="0"/>
            </a:xfrm>
            <a:prstGeom prst="line">
              <a:avLst/>
            </a:prstGeom>
            <a:ln w="762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>
            <a:xfrm>
              <a:off x="8610600" y="1066800"/>
              <a:ext cx="274320" cy="0"/>
            </a:xfrm>
            <a:prstGeom prst="line">
              <a:avLst/>
            </a:prstGeom>
            <a:ln w="762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>
            <a:xfrm>
              <a:off x="8991600" y="1066800"/>
              <a:ext cx="91440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3"/>
          <p:cNvGrpSpPr/>
          <p:nvPr userDrawn="1"/>
        </p:nvGrpSpPr>
        <p:grpSpPr>
          <a:xfrm>
            <a:off x="0" y="1066800"/>
            <a:ext cx="9083040" cy="0"/>
            <a:chOff x="0" y="1066800"/>
            <a:chExt cx="9083040" cy="0"/>
          </a:xfrm>
        </p:grpSpPr>
        <p:cxnSp>
          <p:nvCxnSpPr>
            <p:cNvPr id="9" name="Straight Connector 8"/>
            <p:cNvCxnSpPr/>
            <p:nvPr userDrawn="1"/>
          </p:nvCxnSpPr>
          <p:spPr>
            <a:xfrm>
              <a:off x="0" y="1066800"/>
              <a:ext cx="6248400" cy="0"/>
            </a:xfrm>
            <a:prstGeom prst="line">
              <a:avLst/>
            </a:prstGeom>
            <a:ln w="762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/>
            <p:cNvCxnSpPr/>
            <p:nvPr userDrawn="1"/>
          </p:nvCxnSpPr>
          <p:spPr>
            <a:xfrm>
              <a:off x="6355080" y="1066800"/>
              <a:ext cx="838200" cy="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 userDrawn="1"/>
          </p:nvCxnSpPr>
          <p:spPr>
            <a:xfrm>
              <a:off x="7299960" y="1066800"/>
              <a:ext cx="640080" cy="0"/>
            </a:xfrm>
            <a:prstGeom prst="line">
              <a:avLst/>
            </a:prstGeom>
            <a:ln w="762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 userDrawn="1"/>
          </p:nvCxnSpPr>
          <p:spPr>
            <a:xfrm>
              <a:off x="8046720" y="1066800"/>
              <a:ext cx="457200" cy="0"/>
            </a:xfrm>
            <a:prstGeom prst="line">
              <a:avLst/>
            </a:prstGeom>
            <a:ln w="762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 userDrawn="1"/>
          </p:nvCxnSpPr>
          <p:spPr>
            <a:xfrm>
              <a:off x="8610600" y="1066800"/>
              <a:ext cx="274320" cy="0"/>
            </a:xfrm>
            <a:prstGeom prst="line">
              <a:avLst/>
            </a:prstGeom>
            <a:ln w="762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 userDrawn="1"/>
          </p:nvCxnSpPr>
          <p:spPr>
            <a:xfrm>
              <a:off x="8991600" y="1066800"/>
              <a:ext cx="91440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45425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9E12B-1532-47DB-B85E-2759B06ADEE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CEB29-C175-4BE4-AA62-8A3E4CE0C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772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9E12B-1532-47DB-B85E-2759B06ADEE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CEB29-C175-4BE4-AA62-8A3E4CE0C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705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9E12B-1532-47DB-B85E-2759B06ADEE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CEB29-C175-4BE4-AA62-8A3E4CE0C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503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9E12B-1532-47DB-B85E-2759B06ADEE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CEB29-C175-4BE4-AA62-8A3E4CE0C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298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9E12B-1532-47DB-B85E-2759B06ADEE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CEB29-C175-4BE4-AA62-8A3E4CE0C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063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9E12B-1532-47DB-B85E-2759B06ADEE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CEB29-C175-4BE4-AA62-8A3E4CE0C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906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9E12B-1532-47DB-B85E-2759B06ADEE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CEB29-C175-4BE4-AA62-8A3E4CE0C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876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9E12B-1532-47DB-B85E-2759B06ADEE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CEB29-C175-4BE4-AA62-8A3E4CE0C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53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9E12B-1532-47DB-B85E-2759B06ADEE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CEB29-C175-4BE4-AA62-8A3E4CE0C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981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9E12B-1532-47DB-B85E-2759B06ADEE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CEB29-C175-4BE4-AA62-8A3E4CE0C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5513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89E12B-1532-47DB-B85E-2759B06ADEE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4CEB29-C175-4BE4-AA62-8A3E4CE0C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747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92D16A1-D126-EBFA-3DFE-E5EAE923DDBA}"/>
              </a:ext>
            </a:extLst>
          </p:cNvPr>
          <p:cNvSpPr txBox="1"/>
          <p:nvPr/>
        </p:nvSpPr>
        <p:spPr>
          <a:xfrm>
            <a:off x="843506" y="1938754"/>
            <a:ext cx="7717309" cy="280076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400" b="1" i="1" dirty="0">
                <a:solidFill>
                  <a:srgbClr val="1F497D"/>
                </a:solidFill>
                <a:ea typeface="+mn-lt"/>
                <a:cs typeface="+mn-lt"/>
              </a:rPr>
              <a:t>Integrated Study of 1D Sensitivity Analysis and 2D FVM Laminar-Flow Simulation in Microfluidics: Blood vs. Water</a:t>
            </a:r>
            <a:endParaRPr lang="en-US" sz="4400" b="1" i="1" dirty="0">
              <a:solidFill>
                <a:srgbClr val="1F497D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53589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F8B3000-4D54-D1BD-7E2C-60CC442FE7FA}"/>
              </a:ext>
            </a:extLst>
          </p:cNvPr>
          <p:cNvSpPr txBox="1"/>
          <p:nvPr/>
        </p:nvSpPr>
        <p:spPr>
          <a:xfrm>
            <a:off x="667456" y="1309511"/>
            <a:ext cx="8001000" cy="44012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IN" sz="1600" b="1"/>
              <a:t>Microfluidic</a:t>
            </a:r>
            <a:r>
              <a:rPr lang="en-IN" sz="1600" b="1">
                <a:ea typeface="+mn-lt"/>
                <a:cs typeface="+mn-lt"/>
              </a:rPr>
              <a:t> systems</a:t>
            </a:r>
            <a:r>
              <a:rPr lang="en-IN" sz="1600">
                <a:ea typeface="+mn-lt"/>
                <a:cs typeface="+mn-lt"/>
              </a:rPr>
              <a:t> enable precise control of small-scale flows </a:t>
            </a:r>
            <a:endParaRPr lang="en-US" sz="1600">
              <a:ea typeface="Calibri"/>
              <a:cs typeface="Calibri"/>
            </a:endParaRPr>
          </a:p>
          <a:p>
            <a:r>
              <a:rPr lang="en-US" sz="1600">
                <a:ea typeface="+mn-lt"/>
                <a:cs typeface="+mn-lt"/>
              </a:rPr>
              <a:t>  → </a:t>
            </a:r>
            <a:r>
              <a:rPr lang="en-IN" sz="1600">
                <a:ea typeface="+mn-lt"/>
                <a:cs typeface="+mn-lt"/>
              </a:rPr>
              <a:t>key to </a:t>
            </a:r>
            <a:r>
              <a:rPr lang="en-IN" sz="1600" b="1">
                <a:ea typeface="+mn-lt"/>
                <a:cs typeface="+mn-lt"/>
              </a:rPr>
              <a:t>biomedical</a:t>
            </a:r>
            <a:r>
              <a:rPr lang="en-IN" sz="1600">
                <a:ea typeface="+mn-lt"/>
                <a:cs typeface="+mn-lt"/>
              </a:rPr>
              <a:t> and </a:t>
            </a:r>
            <a:r>
              <a:rPr lang="en-IN" sz="1600" b="1">
                <a:ea typeface="+mn-lt"/>
                <a:cs typeface="+mn-lt"/>
              </a:rPr>
              <a:t>chemical</a:t>
            </a:r>
            <a:r>
              <a:rPr lang="en-IN" sz="1600">
                <a:ea typeface="+mn-lt"/>
                <a:cs typeface="+mn-lt"/>
              </a:rPr>
              <a:t> applications.</a:t>
            </a:r>
            <a:endParaRPr lang="en-IN" sz="1600">
              <a:ea typeface="Calibri"/>
              <a:cs typeface="Calibri"/>
            </a:endParaRPr>
          </a:p>
          <a:p>
            <a:pPr marL="285750" indent="-285750">
              <a:buFont typeface="Wingdings" pitchFamily="2" charset="2"/>
              <a:buChar char="q"/>
            </a:pPr>
            <a:r>
              <a:rPr lang="en-US" sz="1600" b="1">
                <a:ea typeface="+mn-lt"/>
                <a:cs typeface="+mn-lt"/>
              </a:rPr>
              <a:t>Simulations</a:t>
            </a:r>
            <a:r>
              <a:rPr lang="en-US" sz="1600">
                <a:ea typeface="+mn-lt"/>
                <a:cs typeface="+mn-lt"/>
              </a:rPr>
              <a:t> help design efficient </a:t>
            </a:r>
            <a:r>
              <a:rPr lang="en-US" sz="1600" b="1">
                <a:ea typeface="+mn-lt"/>
                <a:cs typeface="+mn-lt"/>
              </a:rPr>
              <a:t>lab-on-chip</a:t>
            </a:r>
            <a:r>
              <a:rPr lang="en-US" sz="1600">
                <a:ea typeface="+mn-lt"/>
                <a:cs typeface="+mn-lt"/>
              </a:rPr>
              <a:t> devices</a:t>
            </a:r>
            <a:br>
              <a:rPr lang="en-US" sz="1600">
                <a:ea typeface="+mn-lt"/>
                <a:cs typeface="+mn-lt"/>
              </a:rPr>
            </a:br>
            <a:r>
              <a:rPr lang="en-US" sz="1600">
                <a:ea typeface="+mn-lt"/>
                <a:cs typeface="+mn-lt"/>
              </a:rPr>
              <a:t>→ reducing experimental cost &amp; trial-error cycles.</a:t>
            </a:r>
          </a:p>
          <a:p>
            <a:pPr marL="285750" indent="-285750">
              <a:buFont typeface="Wingdings"/>
              <a:buChar char="q"/>
            </a:pPr>
            <a:r>
              <a:rPr lang="en-US" sz="1600"/>
              <a:t>Flows</a:t>
            </a:r>
            <a:r>
              <a:rPr lang="en-US" sz="1600">
                <a:ea typeface="+mn-lt"/>
                <a:cs typeface="+mn-lt"/>
              </a:rPr>
              <a:t> often show </a:t>
            </a:r>
            <a:r>
              <a:rPr lang="en-US" sz="1600" b="1">
                <a:ea typeface="+mn-lt"/>
                <a:cs typeface="+mn-lt"/>
              </a:rPr>
              <a:t>non-Newtonian behavior</a:t>
            </a:r>
            <a:r>
              <a:rPr lang="en-US" sz="1600">
                <a:ea typeface="+mn-lt"/>
                <a:cs typeface="+mn-lt"/>
              </a:rPr>
              <a:t>, </a:t>
            </a:r>
            <a:r>
              <a:rPr lang="en-US" sz="1600" b="1">
                <a:ea typeface="+mn-lt"/>
                <a:cs typeface="+mn-lt"/>
              </a:rPr>
              <a:t>mixing</a:t>
            </a:r>
            <a:r>
              <a:rPr lang="en-US" sz="1600">
                <a:ea typeface="+mn-lt"/>
                <a:cs typeface="+mn-lt"/>
              </a:rPr>
              <a:t>, and </a:t>
            </a:r>
            <a:r>
              <a:rPr lang="en-US" sz="1600" b="1">
                <a:ea typeface="+mn-lt"/>
                <a:cs typeface="+mn-lt"/>
              </a:rPr>
              <a:t>droplet transport</a:t>
            </a:r>
          </a:p>
          <a:p>
            <a:r>
              <a:rPr lang="en-US" sz="1600">
                <a:ea typeface="+mn-lt"/>
                <a:cs typeface="+mn-lt"/>
              </a:rPr>
              <a:t>  → require </a:t>
            </a:r>
            <a:r>
              <a:rPr lang="en-US" sz="1600" b="1">
                <a:ea typeface="+mn-lt"/>
                <a:cs typeface="+mn-lt"/>
              </a:rPr>
              <a:t>multi-dimensional models (1D–3D)</a:t>
            </a:r>
            <a:r>
              <a:rPr lang="en-US" sz="1600">
                <a:ea typeface="+mn-lt"/>
                <a:cs typeface="+mn-lt"/>
              </a:rPr>
              <a:t>.</a:t>
            </a:r>
            <a:endParaRPr lang="en-US" sz="1600">
              <a:ea typeface="Calibri"/>
              <a:cs typeface="Calibri"/>
            </a:endParaRPr>
          </a:p>
          <a:p>
            <a:endParaRPr lang="en-US" sz="1600">
              <a:ea typeface="+mn-lt"/>
              <a:cs typeface="+mn-lt"/>
            </a:endParaRPr>
          </a:p>
          <a:p>
            <a:pPr marL="285750" indent="-285750">
              <a:buFont typeface="Wingdings"/>
              <a:buChar char="q"/>
            </a:pPr>
            <a:r>
              <a:rPr lang="en-US" sz="1600">
                <a:ea typeface="+mn-lt"/>
                <a:cs typeface="+mn-lt"/>
              </a:rPr>
              <a:t>High-fidelity 2D/3D solvers (FVM, LBM) → </a:t>
            </a:r>
            <a:r>
              <a:rPr lang="en-US" sz="1600" b="1">
                <a:ea typeface="+mn-lt"/>
                <a:cs typeface="+mn-lt"/>
              </a:rPr>
              <a:t>accurate but computationally heavy</a:t>
            </a:r>
            <a:r>
              <a:rPr lang="en-US" sz="1600">
                <a:ea typeface="+mn-lt"/>
                <a:cs typeface="+mn-lt"/>
              </a:rPr>
              <a:t>.</a:t>
            </a:r>
            <a:endParaRPr lang="en-US" sz="1600">
              <a:ea typeface="Calibri"/>
              <a:cs typeface="Calibri"/>
            </a:endParaRPr>
          </a:p>
          <a:p>
            <a:pPr marL="285750" indent="-285750">
              <a:buFont typeface="Wingdings"/>
              <a:buChar char="q"/>
            </a:pPr>
            <a:r>
              <a:rPr lang="en-US" sz="1600">
                <a:ea typeface="+mn-lt"/>
                <a:cs typeface="+mn-lt"/>
              </a:rPr>
              <a:t>1D models → </a:t>
            </a:r>
            <a:r>
              <a:rPr lang="en-US" sz="1600" b="1">
                <a:ea typeface="+mn-lt"/>
                <a:cs typeface="+mn-lt"/>
              </a:rPr>
              <a:t>fast but approximate</a:t>
            </a:r>
            <a:r>
              <a:rPr lang="en-US" sz="1600">
                <a:ea typeface="+mn-lt"/>
                <a:cs typeface="+mn-lt"/>
              </a:rPr>
              <a:t>.</a:t>
            </a:r>
          </a:p>
          <a:p>
            <a:pPr marL="285750" indent="-285750">
              <a:buFont typeface="Wingdings"/>
              <a:buChar char="q"/>
            </a:pPr>
            <a:endParaRPr lang="en-US" sz="1600">
              <a:ea typeface="+mn-lt"/>
              <a:cs typeface="+mn-lt"/>
            </a:endParaRPr>
          </a:p>
          <a:p>
            <a:pPr marL="285750" indent="-285750">
              <a:buFont typeface="Wingdings"/>
              <a:buChar char="q"/>
            </a:pPr>
            <a:r>
              <a:rPr lang="en-US" sz="1600" b="1">
                <a:ea typeface="+mn-lt"/>
                <a:cs typeface="+mn-lt"/>
              </a:rPr>
              <a:t>Need: </a:t>
            </a:r>
            <a:r>
              <a:rPr lang="en-US" sz="1600">
                <a:ea typeface="+mn-lt"/>
                <a:cs typeface="+mn-lt"/>
              </a:rPr>
              <a:t>Find balance between model accuracy and computational speed.</a:t>
            </a:r>
            <a:endParaRPr lang="en-US" sz="1600">
              <a:ea typeface="Calibri"/>
              <a:cs typeface="Calibri"/>
            </a:endParaRPr>
          </a:p>
          <a:p>
            <a:pPr marL="285750" indent="-285750">
              <a:buFont typeface="Wingdings" pitchFamily="2" charset="2"/>
              <a:buChar char="q"/>
            </a:pPr>
            <a:r>
              <a:rPr lang="en-US" altLang="en-US" sz="1600"/>
              <a:t>Understanding </a:t>
            </a:r>
            <a:r>
              <a:rPr lang="en-US" altLang="en-US" sz="1600" b="1"/>
              <a:t>how sensitive the flow outcomes are to model parameters</a:t>
            </a:r>
            <a:r>
              <a:rPr lang="en-US" altLang="en-US" sz="1600"/>
              <a:t> (viscosity, flow rate, shear index, etc.) is essential to balance accuracy and speed.</a:t>
            </a:r>
            <a:endParaRPr lang="en-US" altLang="en-US" sz="1600">
              <a:ea typeface="Calibri"/>
              <a:cs typeface="Calibri"/>
            </a:endParaRPr>
          </a:p>
          <a:p>
            <a:endParaRPr lang="en-US" altLang="en-US">
              <a:latin typeface="Arial" panose="020B0604020202020204" pitchFamily="34" charset="0"/>
            </a:endParaRPr>
          </a:p>
          <a:p>
            <a:endParaRPr lang="en-US" altLang="en-US">
              <a:latin typeface="Arial" panose="020B0604020202020204" pitchFamily="34" charset="0"/>
            </a:endParaRPr>
          </a:p>
          <a:p>
            <a:endParaRPr lang="en-US" altLang="en-US">
              <a:latin typeface="Arial" panose="020B0604020202020204" pitchFamily="34" charset="0"/>
            </a:endParaRPr>
          </a:p>
          <a:p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7CF3647-83F3-D057-62D7-568CE0E109B5}"/>
              </a:ext>
            </a:extLst>
          </p:cNvPr>
          <p:cNvSpPr txBox="1"/>
          <p:nvPr/>
        </p:nvSpPr>
        <p:spPr>
          <a:xfrm>
            <a:off x="507340" y="4957002"/>
            <a:ext cx="2587978" cy="102155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/>
              <a:t>Perform and analyse 1D simulations for multiple microfluidic use cases</a:t>
            </a:r>
            <a:endParaRPr lang="en-IN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29FBCB-5127-AE7C-C313-21F0E81F40FB}"/>
              </a:ext>
            </a:extLst>
          </p:cNvPr>
          <p:cNvSpPr txBox="1"/>
          <p:nvPr/>
        </p:nvSpPr>
        <p:spPr>
          <a:xfrm>
            <a:off x="1168033" y="296633"/>
            <a:ext cx="7006835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4400" b="1">
                <a:solidFill>
                  <a:srgbClr val="1F497D"/>
                </a:solidFill>
                <a:ea typeface="Calibri"/>
                <a:cs typeface="Calibri"/>
              </a:rPr>
              <a:t>Introduction to the problem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98E588-37AD-20F4-A632-3C9390EEE5EA}"/>
              </a:ext>
            </a:extLst>
          </p:cNvPr>
          <p:cNvSpPr txBox="1"/>
          <p:nvPr/>
        </p:nvSpPr>
        <p:spPr>
          <a:xfrm>
            <a:off x="3412880" y="4955309"/>
            <a:ext cx="2321384" cy="102155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>
                <a:solidFill>
                  <a:srgbClr val="000000"/>
                </a:solidFill>
                <a:ea typeface="Calibri"/>
                <a:cs typeface="Calibri"/>
              </a:rPr>
              <a:t>Quantify </a:t>
            </a:r>
            <a:r>
              <a:rPr lang="en-IN" b="1">
                <a:solidFill>
                  <a:srgbClr val="000000"/>
                </a:solidFill>
                <a:ea typeface="Calibri"/>
                <a:cs typeface="Calibri"/>
              </a:rPr>
              <a:t>sensitivity of flow outcomes</a:t>
            </a:r>
            <a:r>
              <a:rPr lang="en-IN">
                <a:solidFill>
                  <a:srgbClr val="000000"/>
                </a:solidFill>
                <a:ea typeface="Calibri"/>
                <a:cs typeface="Calibri"/>
              </a:rPr>
              <a:t> to parameters</a:t>
            </a:r>
            <a:endParaRPr lang="en-US" err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D9220B-21A3-9263-A6E7-CD4B98C95FE8}"/>
              </a:ext>
            </a:extLst>
          </p:cNvPr>
          <p:cNvSpPr txBox="1"/>
          <p:nvPr/>
        </p:nvSpPr>
        <p:spPr>
          <a:xfrm>
            <a:off x="6073055" y="4954671"/>
            <a:ext cx="2706002" cy="102155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 b="1">
                <a:solidFill>
                  <a:srgbClr val="000000"/>
                </a:solidFill>
                <a:ea typeface="Calibri"/>
                <a:cs typeface="Calibri"/>
              </a:rPr>
              <a:t>Simulate Pressure-driven flow in microchannels</a:t>
            </a:r>
            <a:r>
              <a:rPr lang="en-IN">
                <a:solidFill>
                  <a:srgbClr val="000000"/>
                </a:solidFill>
                <a:ea typeface="Calibri"/>
                <a:cs typeface="Calibri"/>
              </a:rPr>
              <a:t> for: </a:t>
            </a:r>
            <a:r>
              <a:rPr lang="en-IN" b="1">
                <a:solidFill>
                  <a:srgbClr val="000000"/>
                </a:solidFill>
                <a:ea typeface="Calibri"/>
                <a:cs typeface="Calibri"/>
              </a:rPr>
              <a:t>Water</a:t>
            </a:r>
            <a:r>
              <a:rPr lang="en-IN">
                <a:solidFill>
                  <a:srgbClr val="000000"/>
                </a:solidFill>
                <a:ea typeface="Calibri"/>
                <a:cs typeface="Calibri"/>
              </a:rPr>
              <a:t> and </a:t>
            </a:r>
            <a:r>
              <a:rPr lang="en-IN" b="1">
                <a:solidFill>
                  <a:srgbClr val="000000"/>
                </a:solidFill>
                <a:ea typeface="Calibri"/>
                <a:cs typeface="Calibri"/>
              </a:rPr>
              <a:t>Blood</a:t>
            </a:r>
            <a:r>
              <a:rPr lang="en-IN">
                <a:solidFill>
                  <a:srgbClr val="000000"/>
                </a:solidFill>
                <a:ea typeface="Calibri"/>
                <a:cs typeface="Calibri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E356B4-FB27-212F-DD33-C0CAEEBC0981}"/>
              </a:ext>
            </a:extLst>
          </p:cNvPr>
          <p:cNvSpPr txBox="1"/>
          <p:nvPr/>
        </p:nvSpPr>
        <p:spPr>
          <a:xfrm>
            <a:off x="509494" y="4493455"/>
            <a:ext cx="153378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 sz="2400" b="1">
                <a:ea typeface="Calibri"/>
                <a:cs typeface="Calibri"/>
              </a:rPr>
              <a:t>Our goal:</a:t>
            </a:r>
            <a:endParaRPr lang="en-US" sz="24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98656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90C570-E283-D362-4F24-30D7E4FCD3E2}"/>
              </a:ext>
            </a:extLst>
          </p:cNvPr>
          <p:cNvSpPr txBox="1"/>
          <p:nvPr/>
        </p:nvSpPr>
        <p:spPr>
          <a:xfrm>
            <a:off x="600224" y="332748"/>
            <a:ext cx="831529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400" b="1">
                <a:solidFill>
                  <a:srgbClr val="1F497D"/>
                </a:solidFill>
                <a:latin typeface="+mj-lt"/>
              </a:rPr>
              <a:t>Gaps in Existing Work (Motivation)</a:t>
            </a:r>
            <a:endParaRPr lang="en-US" sz="4400" b="1">
              <a:solidFill>
                <a:srgbClr val="1F497D"/>
              </a:solidFill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50B0FE-7562-63B6-2A85-CE15FA39AE70}"/>
              </a:ext>
            </a:extLst>
          </p:cNvPr>
          <p:cNvSpPr txBox="1"/>
          <p:nvPr/>
        </p:nvSpPr>
        <p:spPr>
          <a:xfrm>
            <a:off x="444000" y="1395592"/>
            <a:ext cx="80802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i="1"/>
              <a:t>Need for Sensitivity Analysis in Simplified Microfluidic Models</a:t>
            </a:r>
            <a:endParaRPr lang="en-US" sz="2400" i="1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339BDD4-D0B1-8BF1-D1B8-A217E8062C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942" y="1913594"/>
            <a:ext cx="8215209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effectLst/>
              </a:rPr>
              <a:t>Prior studies (including the reference paper) implemented </a:t>
            </a:r>
            <a:r>
              <a:rPr kumimoji="0" lang="en-US" altLang="en-US" sz="1600" b="1" i="0" u="none" strike="noStrike" cap="none" normalizeH="0" baseline="0">
                <a:ln>
                  <a:noFill/>
                </a:ln>
                <a:effectLst/>
              </a:rPr>
              <a:t>1D, 2D, and 3D simulations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effectLst/>
              </a:rPr>
              <a:t> for non-Newtonian, mixing, and droplet flows.</a:t>
            </a:r>
            <a:endParaRPr lang="en-US" altLang="en-US" sz="1600" b="0" i="0" u="none" strike="noStrike" cap="none" normalizeH="0" baseline="0">
              <a:ln>
                <a:noFill/>
              </a:ln>
              <a:effectLst/>
              <a:ea typeface="Calibri"/>
              <a:cs typeface="Calibri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q"/>
            </a:pPr>
            <a:endParaRPr lang="en-US" altLang="en-US" sz="160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effectLst/>
              </a:rPr>
              <a:t>While these models demonstrate scalability across abstraction levels, the </a:t>
            </a:r>
            <a:r>
              <a:rPr kumimoji="0" lang="en-US" altLang="en-US" sz="1600" b="1" i="0" u="none" strike="noStrike" cap="none" normalizeH="0" baseline="0">
                <a:ln>
                  <a:noFill/>
                </a:ln>
                <a:effectLst/>
              </a:rPr>
              <a:t>relative influence of key parameters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effectLst/>
              </a:rPr>
              <a:t> on system outputs was </a:t>
            </a:r>
            <a:r>
              <a:rPr kumimoji="0" lang="en-US" altLang="en-US" sz="1600" b="1" i="0" u="none" strike="noStrike" cap="none" normalizeH="0" baseline="0">
                <a:ln>
                  <a:noFill/>
                </a:ln>
                <a:effectLst/>
              </a:rPr>
              <a:t>not quantified systematically</a:t>
            </a:r>
            <a:endParaRPr lang="en-US" altLang="en-US" sz="1600" b="1" i="0" u="none" strike="noStrike" cap="none" normalizeH="0" baseline="0">
              <a:ln>
                <a:noFill/>
              </a:ln>
              <a:effectLst/>
              <a:ea typeface="Calibri"/>
              <a:cs typeface="Calibri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q"/>
            </a:pPr>
            <a:endParaRPr lang="en-US" altLang="en-US" sz="1600" b="1"/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q"/>
            </a:pPr>
            <a:r>
              <a:rPr lang="en-US" altLang="en-US" sz="1600"/>
              <a:t>This limits understanding of: </a:t>
            </a:r>
            <a:endParaRPr lang="en-US" altLang="en-US" sz="1600">
              <a:ea typeface="Calibri"/>
              <a:cs typeface="Calibri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/>
              <a:t>Which parameters dominate the flow response, and</a:t>
            </a:r>
            <a:endParaRPr lang="en-US" altLang="en-US" sz="1600">
              <a:ea typeface="Calibri"/>
              <a:cs typeface="Calibri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/>
              <a:t>When 1D models are accurate enough to replace expensive 2D/3D simulations.</a:t>
            </a:r>
            <a:endParaRPr lang="en-US" altLang="en-US" sz="1600" b="0" i="0" u="none" strike="noStrike" cap="none" normalizeH="0" baseline="0">
              <a:ln>
                <a:noFill/>
              </a:ln>
              <a:effectLst/>
              <a:ea typeface="Calibri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E40F73-BE99-7322-C8A0-61233EFC6CCC}"/>
              </a:ext>
            </a:extLst>
          </p:cNvPr>
          <p:cNvSpPr txBox="1"/>
          <p:nvPr/>
        </p:nvSpPr>
        <p:spPr>
          <a:xfrm>
            <a:off x="531488" y="4837053"/>
            <a:ext cx="8459746" cy="715089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i="1"/>
              <a:t>This work fills that gap by performing detailed sensitivity analysis on the 1D Non-Newtonian and Fluid-Mixing cases.</a:t>
            </a:r>
            <a:endParaRPr lang="en-US" i="1"/>
          </a:p>
        </p:txBody>
      </p:sp>
    </p:spTree>
    <p:extLst>
      <p:ext uri="{BB962C8B-B14F-4D97-AF65-F5344CB8AC3E}">
        <p14:creationId xmlns:p14="http://schemas.microsoft.com/office/powerpoint/2010/main" val="7776150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C85544-987B-C81C-6539-495A1D381D1A}"/>
              </a:ext>
            </a:extLst>
          </p:cNvPr>
          <p:cNvSpPr txBox="1"/>
          <p:nvPr/>
        </p:nvSpPr>
        <p:spPr>
          <a:xfrm>
            <a:off x="2764995" y="324696"/>
            <a:ext cx="3857934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400">
                <a:solidFill>
                  <a:srgbClr val="1F497D"/>
                </a:solidFill>
                <a:ea typeface="Calibri"/>
                <a:cs typeface="Calibri"/>
              </a:rPr>
              <a:t>Methodology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0E3911-EC06-72A3-35AE-8FF95492198C}"/>
              </a:ext>
            </a:extLst>
          </p:cNvPr>
          <p:cNvSpPr txBox="1"/>
          <p:nvPr/>
        </p:nvSpPr>
        <p:spPr>
          <a:xfrm>
            <a:off x="326765" y="1712262"/>
            <a:ext cx="8147050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GB" sz="1600" b="1" dirty="0">
                <a:ea typeface="+mn-lt"/>
                <a:cs typeface="+mn-lt"/>
              </a:rPr>
              <a:t>Objective:</a:t>
            </a:r>
            <a:r>
              <a:rPr lang="en-GB" sz="1600" dirty="0">
                <a:ea typeface="+mn-lt"/>
                <a:cs typeface="+mn-lt"/>
              </a:rPr>
              <a:t> Model shear-dependent flow (e.g., blood) through a </a:t>
            </a:r>
            <a:r>
              <a:rPr lang="en-GB" sz="1600" b="1" dirty="0">
                <a:ea typeface="+mn-lt"/>
                <a:cs typeface="+mn-lt"/>
              </a:rPr>
              <a:t>rectangular microchannel</a:t>
            </a:r>
            <a:r>
              <a:rPr lang="en-GB" sz="1600" dirty="0">
                <a:ea typeface="+mn-lt"/>
                <a:cs typeface="+mn-lt"/>
              </a:rPr>
              <a:t>.</a:t>
            </a:r>
            <a:endParaRPr lang="en-GB" sz="1600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GB" sz="1600" b="1" dirty="0">
                <a:ea typeface="+mn-lt"/>
                <a:cs typeface="+mn-lt"/>
              </a:rPr>
              <a:t>Setup:</a:t>
            </a:r>
            <a:r>
              <a:rPr lang="en-GB" sz="1600" dirty="0">
                <a:ea typeface="+mn-lt"/>
                <a:cs typeface="+mn-lt"/>
              </a:rPr>
              <a:t> Channel of </a:t>
            </a:r>
            <a:r>
              <a:rPr lang="en-GB" sz="1600" b="1" dirty="0">
                <a:ea typeface="+mn-lt"/>
                <a:cs typeface="+mn-lt"/>
              </a:rPr>
              <a:t>500 µm length</a:t>
            </a:r>
            <a:r>
              <a:rPr lang="en-GB" sz="1600" dirty="0">
                <a:ea typeface="+mn-lt"/>
                <a:cs typeface="+mn-lt"/>
              </a:rPr>
              <a:t>, </a:t>
            </a:r>
            <a:r>
              <a:rPr lang="en-GB" sz="1600" b="1" dirty="0">
                <a:ea typeface="+mn-lt"/>
                <a:cs typeface="+mn-lt"/>
              </a:rPr>
              <a:t>100 µm width</a:t>
            </a:r>
            <a:r>
              <a:rPr lang="en-GB" sz="1600" dirty="0">
                <a:ea typeface="+mn-lt"/>
                <a:cs typeface="+mn-lt"/>
              </a:rPr>
              <a:t>; </a:t>
            </a:r>
            <a:r>
              <a:rPr lang="en-GB" sz="1600" b="1" dirty="0">
                <a:ea typeface="+mn-lt"/>
                <a:cs typeface="+mn-lt"/>
              </a:rPr>
              <a:t>uniform inlet velocity (10 mm/s)</a:t>
            </a:r>
            <a:r>
              <a:rPr lang="en-GB" sz="1600" dirty="0">
                <a:ea typeface="+mn-lt"/>
                <a:cs typeface="+mn-lt"/>
              </a:rPr>
              <a:t>, no-slip walls.</a:t>
            </a:r>
            <a:endParaRPr lang="en-GB" sz="1600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GB">
              <a:ea typeface="Calibri"/>
              <a:cs typeface="Calibri"/>
            </a:endParaRPr>
          </a:p>
        </p:txBody>
      </p:sp>
      <p:pic>
        <p:nvPicPr>
          <p:cNvPr id="7" name="Picture 6" descr="A black text with a black line&#10;&#10;AI-generated content may be incorrect.">
            <a:extLst>
              <a:ext uri="{FF2B5EF4-FFF2-40B4-BE49-F238E27FC236}">
                <a16:creationId xmlns:a16="http://schemas.microsoft.com/office/drawing/2014/main" id="{C7B9C878-F0CB-29BC-16CB-4FC1BF90D3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5191" y="3001275"/>
            <a:ext cx="3945056" cy="394460"/>
          </a:xfrm>
          <a:prstGeom prst="rect">
            <a:avLst/>
          </a:prstGeom>
        </p:spPr>
      </p:pic>
      <p:pic>
        <p:nvPicPr>
          <p:cNvPr id="8" name="Picture 7" descr="A black and white math symbols&#10;&#10;AI-generated content may be incorrect.">
            <a:extLst>
              <a:ext uri="{FF2B5EF4-FFF2-40B4-BE49-F238E27FC236}">
                <a16:creationId xmlns:a16="http://schemas.microsoft.com/office/drawing/2014/main" id="{8E52E18A-8CD0-5AEA-08F8-CEA37E2E2B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5996" y="4187825"/>
            <a:ext cx="1884539" cy="593373"/>
          </a:xfrm>
          <a:prstGeom prst="rect">
            <a:avLst/>
          </a:prstGeom>
        </p:spPr>
      </p:pic>
      <p:pic>
        <p:nvPicPr>
          <p:cNvPr id="9" name="Picture 8" descr="Diagram of thinning and no slip walls&#10;&#10;AI-generated content may be incorrect.">
            <a:extLst>
              <a:ext uri="{FF2B5EF4-FFF2-40B4-BE49-F238E27FC236}">
                <a16:creationId xmlns:a16="http://schemas.microsoft.com/office/drawing/2014/main" id="{E697EE44-7D02-5AF1-A29D-45FA8C3D80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9155" y="4189118"/>
            <a:ext cx="3093155" cy="173096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092D95A-D45C-8AB6-101D-C3E928BE8A5B}"/>
              </a:ext>
            </a:extLst>
          </p:cNvPr>
          <p:cNvSpPr txBox="1"/>
          <p:nvPr/>
        </p:nvSpPr>
        <p:spPr>
          <a:xfrm>
            <a:off x="326288" y="2651873"/>
            <a:ext cx="4244193" cy="36317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,Sans-Serif"/>
              <a:buChar char="•"/>
            </a:pPr>
            <a:r>
              <a:rPr lang="en-GB" sz="1600" b="1">
                <a:ea typeface="Calibri"/>
                <a:cs typeface="Calibri"/>
              </a:rPr>
              <a:t>Physics:</a:t>
            </a:r>
            <a:r>
              <a:rPr lang="en-GB" sz="1600">
                <a:ea typeface="Calibri"/>
                <a:cs typeface="Calibri"/>
              </a:rPr>
              <a:t> Viscosity varies nonlinearly with shear rate — modelled by the </a:t>
            </a:r>
            <a:r>
              <a:rPr lang="en-GB" sz="1600" b="1">
                <a:ea typeface="Calibri"/>
                <a:cs typeface="Calibri"/>
              </a:rPr>
              <a:t>Carreau–Yasuda relation:</a:t>
            </a:r>
            <a:endParaRPr lang="en-GB" sz="1600">
              <a:ea typeface="Calibri"/>
              <a:cs typeface="Calibri"/>
            </a:endParaRPr>
          </a:p>
          <a:p>
            <a:endParaRPr lang="en-GB" sz="1600">
              <a:ea typeface="Calibri"/>
              <a:cs typeface="Calibri"/>
            </a:endParaRPr>
          </a:p>
          <a:p>
            <a:pPr marL="285750" indent="-285750">
              <a:buFont typeface="Arial,Sans-Serif"/>
              <a:buChar char="•"/>
            </a:pPr>
            <a:r>
              <a:rPr lang="en-GB" sz="1600" b="1">
                <a:ea typeface="Calibri"/>
                <a:cs typeface="Calibri"/>
              </a:rPr>
              <a:t>1D Model:</a:t>
            </a:r>
            <a:r>
              <a:rPr lang="en-GB" sz="1600">
                <a:ea typeface="Calibri"/>
                <a:cs typeface="Calibri"/>
              </a:rPr>
              <a:t> Semi-analytical approach solving for local shear rate γ˙ (z) via root-finding and integrating velocity:</a:t>
            </a:r>
          </a:p>
          <a:p>
            <a:pPr marL="285750" indent="-285750">
              <a:buFont typeface="Arial,Sans-Serif"/>
              <a:buChar char="•"/>
            </a:pPr>
            <a:endParaRPr lang="en-GB" sz="1600">
              <a:ea typeface="Calibri"/>
              <a:cs typeface="Calibri"/>
            </a:endParaRPr>
          </a:p>
          <a:p>
            <a:pPr marL="285750" indent="-285750">
              <a:buFont typeface="Arial,Sans-Serif"/>
              <a:buChar char="•"/>
            </a:pPr>
            <a:endParaRPr lang="en-GB" sz="1600">
              <a:ea typeface="Calibri"/>
              <a:cs typeface="Calibri"/>
            </a:endParaRPr>
          </a:p>
          <a:p>
            <a:pPr marL="285750" indent="-285750">
              <a:buFont typeface="Arial,Sans-Serif"/>
              <a:buChar char="•"/>
            </a:pPr>
            <a:r>
              <a:rPr lang="en-GB" sz="1600" b="1">
                <a:ea typeface="Calibri"/>
                <a:cs typeface="Calibri"/>
              </a:rPr>
              <a:t>Outcome:</a:t>
            </a:r>
            <a:r>
              <a:rPr lang="en-GB" sz="1600">
                <a:ea typeface="Calibri"/>
                <a:cs typeface="Calibri"/>
              </a:rPr>
              <a:t> Predicts flattened (shear-thinning) velocity profiles; computationally efficient vs. 2D/3D CFD</a:t>
            </a:r>
            <a:r>
              <a:rPr lang="en-GB">
                <a:ea typeface="Calibri"/>
                <a:cs typeface="Calibri"/>
              </a:rPr>
              <a:t>.</a:t>
            </a:r>
          </a:p>
          <a:p>
            <a:endParaRPr lang="en-GB">
              <a:ea typeface="Calibri"/>
              <a:cs typeface="Calibri"/>
            </a:endParaRPr>
          </a:p>
          <a:p>
            <a:pPr algn="l"/>
            <a:endParaRPr lang="en-GB">
              <a:ea typeface="Calibri"/>
              <a:cs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FE2B45-C94F-46D1-7131-BB07EFECD93C}"/>
              </a:ext>
            </a:extLst>
          </p:cNvPr>
          <p:cNvSpPr txBox="1"/>
          <p:nvPr/>
        </p:nvSpPr>
        <p:spPr>
          <a:xfrm>
            <a:off x="324855" y="1219702"/>
            <a:ext cx="4113537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 b="1" u="sng">
                <a:solidFill>
                  <a:schemeClr val="tx2"/>
                </a:solidFill>
                <a:ea typeface="Calibri"/>
                <a:cs typeface="Calibri"/>
              </a:rPr>
              <a:t>1. Non-Newtonian Fluid Flow</a:t>
            </a:r>
            <a:endParaRPr lang="en-GB" sz="2400" u="sng">
              <a:solidFill>
                <a:schemeClr val="tx2"/>
              </a:solidFill>
              <a:ea typeface="Calibri"/>
              <a:cs typeface="Calibri"/>
            </a:endParaRPr>
          </a:p>
          <a:p>
            <a:pPr algn="l"/>
            <a:endParaRPr lang="en-GB" u="sng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334455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F5BBA2-EC5C-72C9-7C9C-05F6B5C38DCA}"/>
              </a:ext>
            </a:extLst>
          </p:cNvPr>
          <p:cNvSpPr txBox="1"/>
          <p:nvPr/>
        </p:nvSpPr>
        <p:spPr>
          <a:xfrm>
            <a:off x="358146" y="1704548"/>
            <a:ext cx="7924138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600" b="1" dirty="0">
                <a:ea typeface="+mn-lt"/>
                <a:cs typeface="+mn-lt"/>
              </a:rPr>
              <a:t>Objective:</a:t>
            </a:r>
            <a:r>
              <a:rPr lang="en-GB" sz="1600" dirty="0">
                <a:ea typeface="+mn-lt"/>
                <a:cs typeface="+mn-lt"/>
              </a:rPr>
              <a:t> Predict </a:t>
            </a:r>
            <a:r>
              <a:rPr lang="en-GB" sz="1600" b="1" dirty="0">
                <a:ea typeface="+mn-lt"/>
                <a:cs typeface="+mn-lt"/>
              </a:rPr>
              <a:t>diffusive mixing of two miscible fluids in a microchannel.</a:t>
            </a:r>
            <a:endParaRPr lang="en-GB" sz="1600" b="1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GB" sz="1600" b="1" dirty="0">
                <a:ea typeface="+mn-lt"/>
                <a:cs typeface="+mn-lt"/>
              </a:rPr>
              <a:t>Setup:</a:t>
            </a:r>
            <a:r>
              <a:rPr lang="en-GB" sz="1600" dirty="0">
                <a:ea typeface="+mn-lt"/>
                <a:cs typeface="+mn-lt"/>
              </a:rPr>
              <a:t> Straight channel (600 µm × 40 µm); left fluid C=1, right fluid C=0; no-slip walls.</a:t>
            </a:r>
            <a:endParaRPr lang="en-GB" sz="1600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GB" sz="160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GB" sz="1600" b="1" dirty="0">
                <a:ea typeface="+mn-lt"/>
                <a:cs typeface="+mn-lt"/>
              </a:rPr>
              <a:t>Physics:</a:t>
            </a:r>
            <a:r>
              <a:rPr lang="en-GB" sz="1600" dirty="0">
                <a:ea typeface="+mn-lt"/>
                <a:cs typeface="+mn-lt"/>
              </a:rPr>
              <a:t> Governed by 1D advection–diffusion equation:</a:t>
            </a:r>
            <a:endParaRPr lang="en-GB" sz="1600" dirty="0">
              <a:ea typeface="Calibri"/>
              <a:cs typeface="Calibri"/>
            </a:endParaRPr>
          </a:p>
          <a:p>
            <a:r>
              <a:rPr lang="en-GB" sz="1600" dirty="0">
                <a:ea typeface="Calibri"/>
                <a:cs typeface="Calibri"/>
              </a:rPr>
              <a:t>       where Pe = U*w/D (Peclet Number)</a:t>
            </a:r>
          </a:p>
          <a:p>
            <a:endParaRPr lang="en-GB" sz="160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GB" sz="1600" b="1" dirty="0">
                <a:ea typeface="+mn-lt"/>
                <a:cs typeface="+mn-lt"/>
              </a:rPr>
              <a:t>1D Analytical Solution:</a:t>
            </a:r>
            <a:r>
              <a:rPr lang="en-GB" sz="1600" dirty="0">
                <a:ea typeface="+mn-lt"/>
                <a:cs typeface="+mn-lt"/>
              </a:rPr>
              <a:t> Fourier series representation for concentration evolution along the channel:</a:t>
            </a:r>
            <a:endParaRPr lang="en-GB" sz="1600" dirty="0">
              <a:ea typeface="Calibri"/>
              <a:cs typeface="Calibri"/>
            </a:endParaRPr>
          </a:p>
          <a:p>
            <a:endParaRPr lang="en-GB" sz="1600"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345AD7-F639-4E6D-3F63-4289CF300EEA}"/>
              </a:ext>
            </a:extLst>
          </p:cNvPr>
          <p:cNvSpPr txBox="1"/>
          <p:nvPr/>
        </p:nvSpPr>
        <p:spPr>
          <a:xfrm>
            <a:off x="356775" y="1252675"/>
            <a:ext cx="328271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 b="1" u="sng">
                <a:solidFill>
                  <a:srgbClr val="1F497D"/>
                </a:solidFill>
                <a:ea typeface="Calibri"/>
                <a:cs typeface="Calibri"/>
              </a:rPr>
              <a:t>2. Fluid Mixing</a:t>
            </a:r>
            <a:endParaRPr lang="en-US" sz="2400" u="sng">
              <a:solidFill>
                <a:srgbClr val="1F497D"/>
              </a:solidFill>
            </a:endParaRPr>
          </a:p>
        </p:txBody>
      </p:sp>
      <p:pic>
        <p:nvPicPr>
          <p:cNvPr id="4" name="Picture 3" descr="A mathematical equation with black letters&#10;&#10;AI-generated content may be incorrect.">
            <a:extLst>
              <a:ext uri="{FF2B5EF4-FFF2-40B4-BE49-F238E27FC236}">
                <a16:creationId xmlns:a16="http://schemas.microsoft.com/office/drawing/2014/main" id="{22936AE3-3C44-3F86-F316-51C11A87F7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2858" y="2335037"/>
            <a:ext cx="1397707" cy="788106"/>
          </a:xfrm>
          <a:prstGeom prst="rect">
            <a:avLst/>
          </a:prstGeom>
        </p:spPr>
      </p:pic>
      <p:pic>
        <p:nvPicPr>
          <p:cNvPr id="5" name="Picture 4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59F73D3C-2083-5A6F-1083-FA841BC994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333" y="3691290"/>
            <a:ext cx="6778979" cy="64946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323F669-2531-A8F7-E37F-0A830587C703}"/>
              </a:ext>
            </a:extLst>
          </p:cNvPr>
          <p:cNvSpPr txBox="1"/>
          <p:nvPr/>
        </p:nvSpPr>
        <p:spPr>
          <a:xfrm>
            <a:off x="371223" y="4705102"/>
            <a:ext cx="3830127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GB" sz="1600" b="1">
                <a:ea typeface="Calibri"/>
                <a:cs typeface="Calibri"/>
              </a:rPr>
              <a:t>Outcome:</a:t>
            </a:r>
            <a:r>
              <a:rPr lang="en-GB" sz="1600">
                <a:ea typeface="Calibri"/>
                <a:cs typeface="Calibri"/>
              </a:rPr>
              <a:t> Generates concentration profiles and computes the </a:t>
            </a:r>
            <a:r>
              <a:rPr lang="en-GB" sz="1600" b="1">
                <a:ea typeface="Calibri"/>
                <a:cs typeface="Calibri"/>
              </a:rPr>
              <a:t>Absolute Mixing Index (AMI)</a:t>
            </a:r>
            <a:r>
              <a:rPr lang="en-GB" sz="1600">
                <a:ea typeface="Calibri"/>
                <a:cs typeface="Calibri"/>
              </a:rPr>
              <a:t> for quantifying uniformity.</a:t>
            </a:r>
            <a:endParaRPr lang="en-US" sz="1600">
              <a:ea typeface="Calibri"/>
              <a:cs typeface="Calibri"/>
            </a:endParaRPr>
          </a:p>
        </p:txBody>
      </p:sp>
      <p:pic>
        <p:nvPicPr>
          <p:cNvPr id="8" name="Picture 7" descr="A close up of a line&#10;&#10;AI-generated content may be incorrect.">
            <a:extLst>
              <a:ext uri="{FF2B5EF4-FFF2-40B4-BE49-F238E27FC236}">
                <a16:creationId xmlns:a16="http://schemas.microsoft.com/office/drawing/2014/main" id="{B6E0509B-3774-9E66-D19E-593C3D9548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647" y="4617508"/>
            <a:ext cx="3054350" cy="166440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2219AD6-8FED-00C2-276E-5EC0A47C2DAC}"/>
              </a:ext>
            </a:extLst>
          </p:cNvPr>
          <p:cNvSpPr txBox="1"/>
          <p:nvPr/>
        </p:nvSpPr>
        <p:spPr>
          <a:xfrm>
            <a:off x="7725787" y="4819938"/>
            <a:ext cx="1239696" cy="6001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100">
                <a:ea typeface="Calibri"/>
                <a:cs typeface="Calibri"/>
              </a:rPr>
              <a:t>Fig: Flow mixing in a meandering channel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4FC6F9-EF96-81E7-6BBB-5FD317CC7B50}"/>
              </a:ext>
            </a:extLst>
          </p:cNvPr>
          <p:cNvSpPr txBox="1"/>
          <p:nvPr/>
        </p:nvSpPr>
        <p:spPr>
          <a:xfrm>
            <a:off x="2699146" y="316149"/>
            <a:ext cx="3508739" cy="10464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>
                <a:solidFill>
                  <a:srgbClr val="1F497D"/>
                </a:solidFill>
                <a:ea typeface="Calibri"/>
                <a:cs typeface="Calibri"/>
              </a:rPr>
              <a:t>Methodology</a:t>
            </a:r>
            <a:endParaRPr lang="en-GB" sz="4400">
              <a:ea typeface="Calibri"/>
              <a:cs typeface="Calibri"/>
            </a:endParaRPr>
          </a:p>
          <a:p>
            <a:pPr algn="l"/>
            <a:endParaRPr lang="en-GB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921468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69CE6D8-6B89-18DF-5CAA-FC01E73B2149}"/>
              </a:ext>
            </a:extLst>
          </p:cNvPr>
          <p:cNvSpPr txBox="1"/>
          <p:nvPr/>
        </p:nvSpPr>
        <p:spPr>
          <a:xfrm>
            <a:off x="2935879" y="228600"/>
            <a:ext cx="327224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>
                <a:solidFill>
                  <a:srgbClr val="1F497D"/>
                </a:solidFill>
                <a:latin typeface="+mj-lt"/>
              </a:rPr>
              <a:t>Methodology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86CB99-5283-5C73-C2F0-A3340942308B}"/>
              </a:ext>
            </a:extLst>
          </p:cNvPr>
          <p:cNvSpPr txBox="1"/>
          <p:nvPr/>
        </p:nvSpPr>
        <p:spPr>
          <a:xfrm>
            <a:off x="304800" y="1122606"/>
            <a:ext cx="4435189" cy="83099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IN" sz="2400" b="1" u="sng">
                <a:solidFill>
                  <a:schemeClr val="tx2"/>
                </a:solidFill>
                <a:latin typeface="Calibri"/>
                <a:ea typeface="Calibri"/>
                <a:cs typeface="Calibri"/>
              </a:rPr>
              <a:t>3. Sensitivity Analysis Framework</a:t>
            </a:r>
          </a:p>
          <a:p>
            <a:endParaRPr lang="en-US" sz="2400" b="1">
              <a:latin typeface="Calibri"/>
              <a:ea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657CC4-03BB-4E22-7E61-DC87B0E521E6}"/>
              </a:ext>
            </a:extLst>
          </p:cNvPr>
          <p:cNvSpPr txBox="1"/>
          <p:nvPr/>
        </p:nvSpPr>
        <p:spPr>
          <a:xfrm>
            <a:off x="298048" y="1513891"/>
            <a:ext cx="7753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/>
              <a:t>Approach:</a:t>
            </a:r>
            <a:r>
              <a:rPr lang="en-US" altLang="en-US"/>
              <a:t> 1-D semi-analytical solvers for Non-Newtonian and Fluid-Mixing cases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7812EA82-40DD-3355-28D8-3357F013E856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39565" y="1888393"/>
            <a:ext cx="8464870" cy="4278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effectLst/>
              </a:rPr>
              <a:t>Stage 1 – Local (OAT) Sensitivity:</a:t>
            </a:r>
            <a:endParaRPr lang="en-US" altLang="en-US" sz="1600" b="0" i="0" u="none" strike="noStrike" cap="none" normalizeH="0" baseline="0">
              <a:ln>
                <a:noFill/>
              </a:ln>
              <a:effectLst/>
              <a:ea typeface="Calibri"/>
              <a:cs typeface="Calibri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q"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effectLst/>
              </a:rPr>
              <a:t>Perturb each parameter by ±10 % (one-factor-at-a-time)</a:t>
            </a:r>
            <a:endParaRPr lang="en-US" altLang="en-US" sz="1600" b="0" i="0" u="none" strike="noStrike" cap="none" normalizeH="0" baseline="0">
              <a:ln>
                <a:noFill/>
              </a:ln>
              <a:effectLst/>
              <a:ea typeface="Calibri"/>
              <a:cs typeface="Calibri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q"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effectLst/>
              </a:rPr>
              <a:t>Compute normalized finite-difference sensitivity</a:t>
            </a:r>
            <a:endParaRPr lang="en-US" altLang="en-US" sz="1600" b="0" i="0" u="none" strike="noStrike" cap="none" normalizeH="0" baseline="0">
              <a:ln>
                <a:noFill/>
              </a:ln>
              <a:effectLst/>
              <a:ea typeface="Calibri"/>
              <a:cs typeface="Calibri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q"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effectLst/>
              </a:rPr>
              <a:t>Outputs → centerline velocity (Uₘₐₓ) and flow rate (Q)</a:t>
            </a:r>
            <a:endParaRPr lang="en-US" altLang="en-US" sz="1600" b="0" i="0" u="none" strike="noStrike" cap="none" normalizeH="0" baseline="0">
              <a:ln>
                <a:noFill/>
              </a:ln>
              <a:effectLst/>
              <a:ea typeface="Calibri"/>
              <a:cs typeface="Calibri"/>
            </a:endParaRPr>
          </a:p>
          <a:p>
            <a:pPr marL="742950" lvl="1" indent="-28575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q"/>
            </a:pPr>
            <a:endParaRPr lang="en-US" altLang="en-US" sz="160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effectLst/>
              </a:rPr>
              <a:t>Stage 2 – Global (Morris) Screening:</a:t>
            </a:r>
            <a:endParaRPr lang="en-US" altLang="en-US" sz="1600" b="0" i="0" u="none" strike="noStrike" cap="none" normalizeH="0" baseline="0">
              <a:ln>
                <a:noFill/>
              </a:ln>
              <a:effectLst/>
              <a:ea typeface="Calibri"/>
              <a:cs typeface="Calibri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q"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effectLst/>
              </a:rPr>
              <a:t>Vary multiple parameters simultaneously using random trajectories</a:t>
            </a:r>
            <a:endParaRPr lang="en-US" altLang="en-US" sz="1600" b="0" i="0" u="none" strike="noStrike" cap="none" normalizeH="0" baseline="0">
              <a:ln>
                <a:noFill/>
              </a:ln>
              <a:effectLst/>
              <a:ea typeface="Calibri"/>
              <a:cs typeface="Calibri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q"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effectLst/>
              </a:rPr>
              <a:t>Compute mean (μ*) and std (σ) of elementary effects</a:t>
            </a:r>
            <a:endParaRPr lang="en-US" altLang="en-US" sz="1600" b="0" i="0" u="none" strike="noStrike" cap="none" normalizeH="0" baseline="0">
              <a:ln>
                <a:noFill/>
              </a:ln>
              <a:effectLst/>
              <a:ea typeface="Calibri"/>
              <a:cs typeface="Calibri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q"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effectLst/>
              </a:rPr>
              <a:t>Identify most influential &amp; non-linear parameters</a:t>
            </a:r>
            <a:endParaRPr lang="en-US" altLang="en-US" sz="1600" b="0" i="0" u="none" strike="noStrike" cap="none" normalizeH="0" baseline="0">
              <a:ln>
                <a:noFill/>
              </a:ln>
              <a:effectLst/>
              <a:ea typeface="Calibri"/>
              <a:cs typeface="Calibri"/>
            </a:endParaRPr>
          </a:p>
          <a:p>
            <a:pPr marL="742950" lvl="1" indent="-28575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q"/>
            </a:pPr>
            <a:endParaRPr lang="en-US" altLang="en-US" sz="160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effectLst/>
              </a:rPr>
              <a:t>Applied to:</a:t>
            </a:r>
            <a:endParaRPr lang="en-US" altLang="en-US" sz="1600" b="0" i="0" u="none" strike="noStrike" cap="none" normalizeH="0" baseline="0">
              <a:ln>
                <a:noFill/>
              </a:ln>
              <a:effectLst/>
              <a:ea typeface="Calibri"/>
              <a:cs typeface="Calibri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q"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effectLst/>
              </a:rPr>
              <a:t>Non-Newtonian blood flow (1-D Carreau–Yasuda solver)</a:t>
            </a:r>
            <a:endParaRPr lang="en-US" altLang="en-US" sz="1600" b="0" i="0" u="none" strike="noStrike" cap="none" normalizeH="0" baseline="0">
              <a:ln>
                <a:noFill/>
              </a:ln>
              <a:effectLst/>
              <a:ea typeface="Calibri"/>
              <a:cs typeface="Calibri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q"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effectLst/>
              </a:rPr>
              <a:t>Fluid Mixing (1-D advection–diffusion solver)</a:t>
            </a:r>
            <a:endParaRPr lang="en-US" altLang="en-US" sz="1600" b="0" i="0" u="none" strike="noStrike" cap="none" normalizeH="0" baseline="0">
              <a:ln>
                <a:noFill/>
              </a:ln>
              <a:effectLst/>
              <a:ea typeface="Calibri"/>
              <a:cs typeface="Calibri"/>
            </a:endParaRPr>
          </a:p>
          <a:p>
            <a:pPr marL="742950" lvl="1" indent="-28575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q"/>
            </a:pPr>
            <a:endParaRPr lang="en-US" altLang="en-US" sz="160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effectLst/>
              </a:rPr>
              <a:t>Outputs:</a:t>
            </a:r>
            <a:endParaRPr lang="en-US" altLang="en-US" sz="1600" b="0" i="0" u="none" strike="noStrike" cap="none" normalizeH="0" baseline="0">
              <a:ln>
                <a:noFill/>
              </a:ln>
              <a:effectLst/>
              <a:ea typeface="Calibri"/>
              <a:cs typeface="Calibri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q"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effectLst/>
              </a:rPr>
              <a:t>Sensitivity tables and tornado/scatter plots for </a:t>
            </a:r>
            <a:r>
              <a:rPr kumimoji="0" lang="en-US" altLang="en-US" sz="1600" b="0" i="0" u="none" strike="noStrike" cap="none" normalizeH="0" baseline="0" err="1">
                <a:ln>
                  <a:noFill/>
                </a:ln>
                <a:effectLst/>
              </a:rPr>
              <a:t>U</a:t>
            </a:r>
            <a:r>
              <a:rPr kumimoji="0" lang="en-US" altLang="en-US" sz="1600" b="0" i="0" u="none" strike="noStrike" cap="none" normalizeH="0" baseline="-25000" err="1">
                <a:ln>
                  <a:noFill/>
                </a:ln>
                <a:effectLst/>
              </a:rPr>
              <a:t>max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effectLst/>
              </a:rPr>
              <a:t> and Q (or AMI for mixing)</a:t>
            </a:r>
            <a:endParaRPr lang="en-US" altLang="en-US" sz="1600" b="0" i="0" u="none" strike="noStrike" cap="none" normalizeH="0" baseline="0">
              <a:ln>
                <a:noFill/>
              </a:ln>
              <a:effectLst/>
              <a:ea typeface="Calibri"/>
              <a:cs typeface="Ca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600" b="0" i="0" u="none" strike="noStrike" cap="none" normalizeH="0" baseline="0">
              <a:ln>
                <a:noFill/>
              </a:ln>
              <a:effectLst/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482391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657AB-20DF-A84E-F7EF-D6FF4DB6F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4D68156-7462-E724-0839-36CB3D937457}"/>
              </a:ext>
            </a:extLst>
          </p:cNvPr>
          <p:cNvSpPr txBox="1"/>
          <p:nvPr/>
        </p:nvSpPr>
        <p:spPr>
          <a:xfrm>
            <a:off x="423335" y="1608667"/>
            <a:ext cx="5321067" cy="38164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GB" sz="1600" b="1">
                <a:latin typeface="Calibri"/>
                <a:ea typeface="Calibri"/>
                <a:cs typeface="Calibri"/>
              </a:rPr>
              <a:t>Objective:</a:t>
            </a:r>
            <a:r>
              <a:rPr lang="en-GB" sz="1600">
                <a:latin typeface="Calibri"/>
                <a:ea typeface="Calibri"/>
                <a:cs typeface="Calibri"/>
              </a:rPr>
              <a:t> U</a:t>
            </a:r>
            <a:r>
              <a:rPr lang="en-US" sz="1600">
                <a:latin typeface="Calibri"/>
                <a:ea typeface="Calibri"/>
                <a:cs typeface="Calibri"/>
              </a:rPr>
              <a:t>sing a simplified 2D Navier-Stoles solver to simulate pressure-driven flow in a micro-channel.</a:t>
            </a:r>
            <a:endParaRPr lang="en-US" sz="1600">
              <a:ea typeface="Calibri"/>
              <a:cs typeface="Calibri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endParaRPr lang="en-US" sz="1600">
              <a:latin typeface="Calibri"/>
              <a:ea typeface="Calibri"/>
              <a:cs typeface="Calibri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latin typeface="Calibri"/>
                <a:ea typeface="Calibri"/>
                <a:cs typeface="Calibri"/>
              </a:rPr>
              <a:t>Geometry &amp; meshing:</a:t>
            </a:r>
          </a:p>
          <a:p>
            <a:pPr indent="-28575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>
                <a:latin typeface="Calibri"/>
                <a:ea typeface="Calibri"/>
                <a:cs typeface="Calibri"/>
              </a:rPr>
              <a:t>Geometry: </a:t>
            </a:r>
            <a:r>
              <a:rPr lang="en-US" altLang="en-US" sz="1600">
                <a:latin typeface="Calibri"/>
                <a:ea typeface="Calibri"/>
                <a:cs typeface="Calibri"/>
              </a:rPr>
              <a:t>Defines the channel length (</a:t>
            </a:r>
            <a:r>
              <a:rPr lang="en-US" altLang="en-US" sz="1600" b="1">
                <a:latin typeface="Calibri"/>
                <a:ea typeface="Calibri"/>
                <a:cs typeface="Calibri"/>
              </a:rPr>
              <a:t>L = 1000</a:t>
            </a:r>
            <a:r>
              <a:rPr lang="el-GR" sz="1600" b="1">
                <a:latin typeface="Calibri"/>
                <a:ea typeface="Calibri"/>
                <a:cs typeface="Calibri"/>
              </a:rPr>
              <a:t>μ</a:t>
            </a:r>
            <a:r>
              <a:rPr lang="en-US" altLang="en-US" sz="1600" b="1">
                <a:latin typeface="Calibri"/>
                <a:ea typeface="Calibri"/>
                <a:cs typeface="Calibri"/>
              </a:rPr>
              <a:t>m</a:t>
            </a:r>
            <a:r>
              <a:rPr lang="en-US" altLang="en-US" sz="1600">
                <a:latin typeface="Calibri"/>
                <a:ea typeface="Calibri"/>
                <a:cs typeface="Calibri"/>
              </a:rPr>
              <a:t>)    and height (</a:t>
            </a:r>
            <a:r>
              <a:rPr lang="en-US" altLang="en-US" sz="1600" b="1">
                <a:latin typeface="Calibri"/>
                <a:ea typeface="Calibri"/>
                <a:cs typeface="Calibri"/>
              </a:rPr>
              <a:t>H = 100</a:t>
            </a:r>
            <a:r>
              <a:rPr lang="el-GR" sz="1600" b="1">
                <a:latin typeface="Calibri"/>
                <a:ea typeface="Calibri"/>
                <a:cs typeface="Calibri"/>
              </a:rPr>
              <a:t> μ</a:t>
            </a:r>
            <a:r>
              <a:rPr lang="en-US" altLang="en-US" sz="1600" b="1">
                <a:latin typeface="Calibri"/>
                <a:ea typeface="Calibri"/>
                <a:cs typeface="Calibri"/>
              </a:rPr>
              <a:t>m</a:t>
            </a:r>
            <a:r>
              <a:rPr lang="en-US" altLang="en-US" sz="1600">
                <a:latin typeface="Calibri"/>
                <a:ea typeface="Calibri"/>
                <a:cs typeface="Calibri"/>
              </a:rPr>
              <a:t>) in meters, </a:t>
            </a:r>
            <a:r>
              <a:rPr lang="en-US" sz="1600" b="1">
                <a:latin typeface="Calibri"/>
                <a:ea typeface="Calibri"/>
                <a:cs typeface="Calibri"/>
              </a:rPr>
              <a:t>Grid  </a:t>
            </a:r>
          </a:p>
          <a:p>
            <a:pPr indent="-28575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600" b="1">
                <a:latin typeface="Calibri"/>
                <a:ea typeface="Calibri"/>
                <a:cs typeface="Calibri"/>
              </a:rPr>
              <a:t>Resolution: </a:t>
            </a:r>
            <a:r>
              <a:rPr lang="en-US" sz="1600" b="1" err="1">
                <a:latin typeface="Calibri"/>
                <a:ea typeface="Calibri"/>
                <a:cs typeface="Calibri"/>
              </a:rPr>
              <a:t>nx</a:t>
            </a:r>
            <a:r>
              <a:rPr lang="en-US" sz="1600" b="1">
                <a:latin typeface="Calibri"/>
                <a:ea typeface="Calibri"/>
                <a:cs typeface="Calibri"/>
              </a:rPr>
              <a:t>=100 </a:t>
            </a:r>
            <a:r>
              <a:rPr lang="en-US" sz="1600">
                <a:latin typeface="Calibri"/>
                <a:ea typeface="Calibri"/>
                <a:cs typeface="Calibri"/>
              </a:rPr>
              <a:t>cells in the x-direction </a:t>
            </a:r>
            <a:r>
              <a:rPr lang="en-US" sz="1600" b="1">
                <a:latin typeface="Calibri"/>
                <a:ea typeface="Calibri"/>
                <a:cs typeface="Calibri"/>
              </a:rPr>
              <a:t>and                  </a:t>
            </a:r>
            <a:r>
              <a:rPr lang="en-US" sz="1600" b="1" err="1">
                <a:latin typeface="Calibri"/>
                <a:ea typeface="Calibri"/>
                <a:cs typeface="Calibri"/>
              </a:rPr>
              <a:t>ny</a:t>
            </a:r>
            <a:r>
              <a:rPr lang="en-US" sz="1600" b="1">
                <a:latin typeface="Calibri"/>
                <a:ea typeface="Calibri"/>
                <a:cs typeface="Calibri"/>
              </a:rPr>
              <a:t>=50 </a:t>
            </a:r>
            <a:r>
              <a:rPr lang="en-US" sz="1600">
                <a:latin typeface="Calibri"/>
                <a:ea typeface="Calibri"/>
                <a:cs typeface="Calibri"/>
              </a:rPr>
              <a:t>cells in the y-direction</a:t>
            </a:r>
            <a:r>
              <a:rPr lang="en-US" sz="1600" b="1">
                <a:latin typeface="Calibri"/>
                <a:ea typeface="Calibri"/>
                <a:cs typeface="Calibri"/>
              </a:rPr>
              <a:t>.</a:t>
            </a:r>
          </a:p>
          <a:p>
            <a:pPr indent="-28575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>
                <a:latin typeface="Calibri"/>
                <a:ea typeface="Calibri"/>
                <a:cs typeface="Calibri"/>
              </a:rPr>
              <a:t>Cell Size: </a:t>
            </a:r>
            <a:r>
              <a:rPr lang="el-GR" sz="1600" b="1">
                <a:latin typeface="Calibri"/>
                <a:ea typeface="Calibri"/>
                <a:cs typeface="Calibri"/>
              </a:rPr>
              <a:t>Δ</a:t>
            </a:r>
            <a:r>
              <a:rPr lang="en-US" altLang="en-US" sz="1600" b="1">
                <a:latin typeface="Calibri"/>
                <a:ea typeface="Calibri"/>
                <a:cs typeface="Calibri"/>
              </a:rPr>
              <a:t>x = L/</a:t>
            </a:r>
            <a:r>
              <a:rPr lang="en-US" altLang="en-US" sz="1600" b="1" err="1">
                <a:latin typeface="Calibri"/>
                <a:ea typeface="Calibri"/>
                <a:cs typeface="Calibri"/>
              </a:rPr>
              <a:t>nx</a:t>
            </a:r>
            <a:r>
              <a:rPr lang="en-US" altLang="en-US" sz="1600" b="1">
                <a:latin typeface="Calibri"/>
                <a:ea typeface="Calibri"/>
                <a:cs typeface="Calibri"/>
              </a:rPr>
              <a:t> and </a:t>
            </a:r>
            <a:r>
              <a:rPr lang="el-GR" sz="1600" b="1">
                <a:latin typeface="Calibri"/>
                <a:ea typeface="Calibri"/>
                <a:cs typeface="Calibri"/>
              </a:rPr>
              <a:t>Δ</a:t>
            </a:r>
            <a:r>
              <a:rPr lang="en-US" altLang="en-US" sz="1600" b="1">
                <a:latin typeface="Calibri"/>
                <a:ea typeface="Calibri"/>
                <a:cs typeface="Calibri"/>
              </a:rPr>
              <a:t>y = H/</a:t>
            </a:r>
            <a:r>
              <a:rPr lang="en-US" altLang="en-US" sz="1600" b="1" err="1">
                <a:latin typeface="Calibri"/>
                <a:ea typeface="Calibri"/>
                <a:cs typeface="Calibri"/>
              </a:rPr>
              <a:t>ny</a:t>
            </a:r>
            <a:r>
              <a:rPr lang="en-US" altLang="en-US" sz="1600" b="1">
                <a:latin typeface="Calibri"/>
                <a:ea typeface="Calibri"/>
                <a:cs typeface="Calibri"/>
              </a:rPr>
              <a:t>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60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60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>
              <a:latin typeface="Google Sans Tex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latin typeface="Google Sans Text"/>
              </a:rPr>
              <a:t> </a:t>
            </a:r>
          </a:p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0CA53AD-DD2D-91A4-CE36-3EC59CF58A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4971" y="5285005"/>
            <a:ext cx="5554057" cy="110811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919B1E2-D483-F635-C363-1E377F9FE5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2008" y="4058355"/>
            <a:ext cx="6055571" cy="11081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D21F149-EEB0-9F9F-976D-D8517A0F0F4F}"/>
              </a:ext>
            </a:extLst>
          </p:cNvPr>
          <p:cNvSpPr txBox="1"/>
          <p:nvPr/>
        </p:nvSpPr>
        <p:spPr>
          <a:xfrm>
            <a:off x="2664765" y="366950"/>
            <a:ext cx="4016616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400">
                <a:solidFill>
                  <a:srgbClr val="1F497D"/>
                </a:solidFill>
                <a:ea typeface="Calibri"/>
                <a:cs typeface="Calibri"/>
              </a:rPr>
              <a:t>Methodology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C5ABD9-7048-89E0-7854-2BC966334E03}"/>
              </a:ext>
            </a:extLst>
          </p:cNvPr>
          <p:cNvSpPr txBox="1"/>
          <p:nvPr/>
        </p:nvSpPr>
        <p:spPr>
          <a:xfrm>
            <a:off x="304385" y="1145112"/>
            <a:ext cx="820928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 b="1" u="sng">
                <a:solidFill>
                  <a:schemeClr val="tx2"/>
                </a:solidFill>
                <a:ea typeface="Calibri"/>
                <a:cs typeface="Calibri"/>
              </a:rPr>
              <a:t>4. Pressure driven flow for Water (low </a:t>
            </a:r>
            <a:r>
              <a:rPr lang="en-US" sz="2400" b="1">
                <a:solidFill>
                  <a:schemeClr val="tx2"/>
                </a:solidFill>
                <a:ea typeface="Calibri"/>
                <a:cs typeface="Calibri"/>
              </a:rPr>
              <a:t>μ)</a:t>
            </a:r>
            <a:r>
              <a:rPr lang="en-GB" sz="2400" b="1" u="sng">
                <a:solidFill>
                  <a:schemeClr val="tx2"/>
                </a:solidFill>
                <a:ea typeface="Calibri"/>
                <a:cs typeface="Calibri"/>
              </a:rPr>
              <a:t> and Blood (high </a:t>
            </a:r>
            <a:r>
              <a:rPr lang="en-US" sz="2400" b="1">
                <a:solidFill>
                  <a:schemeClr val="tx2"/>
                </a:solidFill>
                <a:ea typeface="Calibri"/>
                <a:cs typeface="Calibri"/>
              </a:rPr>
              <a:t>μ)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30913F-7B70-8912-6665-7AF79E36562A}"/>
              </a:ext>
            </a:extLst>
          </p:cNvPr>
          <p:cNvSpPr txBox="1"/>
          <p:nvPr/>
        </p:nvSpPr>
        <p:spPr>
          <a:xfrm>
            <a:off x="5776617" y="1716376"/>
            <a:ext cx="3143869" cy="178510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1600" b="1">
                <a:ea typeface="Calibri"/>
                <a:cs typeface="Calibri"/>
              </a:rPr>
              <a:t>Fluids &amp; BCs :</a:t>
            </a:r>
            <a:endParaRPr lang="en-US" sz="1600">
              <a:ea typeface="Calibri"/>
              <a:cs typeface="Calibri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r>
              <a:rPr lang="en-US" sz="1600" b="1">
                <a:ea typeface="Calibri"/>
                <a:cs typeface="Calibri"/>
              </a:rPr>
              <a:t>Water</a:t>
            </a:r>
            <a:r>
              <a:rPr lang="en-US" sz="1600">
                <a:ea typeface="Calibri"/>
                <a:cs typeface="Calibri"/>
              </a:rPr>
              <a:t> (</a:t>
            </a:r>
            <a:r>
              <a:rPr lang="el-GR" sz="1600">
                <a:ea typeface="Calibri"/>
                <a:cs typeface="Calibri"/>
              </a:rPr>
              <a:t>μ</a:t>
            </a:r>
            <a:r>
              <a:rPr lang="en-US" sz="1600">
                <a:ea typeface="Calibri"/>
                <a:cs typeface="Calibri"/>
              </a:rPr>
              <a:t>= 0.001Pa.s) vs </a:t>
            </a:r>
            <a:r>
              <a:rPr lang="en-US" sz="1600" b="1">
                <a:ea typeface="Calibri"/>
                <a:cs typeface="Calibri"/>
              </a:rPr>
              <a:t>Blood</a:t>
            </a:r>
            <a:r>
              <a:rPr lang="en-US" sz="1600">
                <a:ea typeface="Calibri"/>
                <a:cs typeface="Calibri"/>
              </a:rPr>
              <a:t> </a:t>
            </a:r>
            <a:r>
              <a:rPr lang="el-GR" sz="1600">
                <a:ea typeface="Calibri"/>
                <a:cs typeface="Calibri"/>
              </a:rPr>
              <a:t>μ</a:t>
            </a:r>
            <a:r>
              <a:rPr lang="en-US" sz="1600">
                <a:ea typeface="Calibri"/>
                <a:cs typeface="Calibri"/>
              </a:rPr>
              <a:t>= 0.0035 </a:t>
            </a:r>
            <a:r>
              <a:rPr lang="en-US" sz="1600" err="1">
                <a:ea typeface="Calibri"/>
                <a:cs typeface="Calibri"/>
              </a:rPr>
              <a:t>Pa.s</a:t>
            </a:r>
            <a:r>
              <a:rPr lang="en-US" sz="1600">
                <a:ea typeface="Calibri"/>
                <a:cs typeface="Calibri"/>
              </a:rPr>
              <a:t>)</a:t>
            </a: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r>
              <a:rPr lang="en-US" sz="1600" b="1">
                <a:ea typeface="Calibri"/>
                <a:cs typeface="Calibri"/>
              </a:rPr>
              <a:t>Pressure Drop:</a:t>
            </a:r>
            <a:r>
              <a:rPr lang="en-US" sz="1600">
                <a:ea typeface="Calibri"/>
                <a:cs typeface="Calibri"/>
              </a:rPr>
              <a:t> </a:t>
            </a:r>
            <a:r>
              <a:rPr lang="el-GR" sz="1600">
                <a:ea typeface="Calibri"/>
                <a:cs typeface="Calibri"/>
              </a:rPr>
              <a:t>Δ</a:t>
            </a:r>
            <a:r>
              <a:rPr lang="en-US" sz="1600">
                <a:ea typeface="Calibri"/>
                <a:cs typeface="Calibri"/>
              </a:rPr>
              <a:t>P = 1000 Pa (Driving force)</a:t>
            </a: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r>
              <a:rPr lang="en-US" sz="1600" b="1">
                <a:ea typeface="Calibri"/>
                <a:cs typeface="Calibri"/>
              </a:rPr>
              <a:t>Walls:</a:t>
            </a:r>
            <a:r>
              <a:rPr lang="en-US" sz="1600">
                <a:ea typeface="Calibri"/>
                <a:cs typeface="Calibri"/>
              </a:rPr>
              <a:t> No-slip BC (u=0, v=0).</a:t>
            </a:r>
          </a:p>
          <a:p>
            <a:pPr algn="l"/>
            <a:endParaRPr lang="en-GB" sz="14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403709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A118C-5CAD-405A-43DD-94CD4D16E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45829A5-C53A-EDB2-D3F2-B77678AEEF96}"/>
              </a:ext>
            </a:extLst>
          </p:cNvPr>
          <p:cNvSpPr txBox="1"/>
          <p:nvPr/>
        </p:nvSpPr>
        <p:spPr>
          <a:xfrm>
            <a:off x="2819400" y="475442"/>
            <a:ext cx="3356303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Numerical Methodology </a:t>
            </a:r>
          </a:p>
          <a:p>
            <a:endParaRPr lang="en-US" sz="44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4CE089-F063-73AE-DB0F-C89DFA77E830}"/>
              </a:ext>
            </a:extLst>
          </p:cNvPr>
          <p:cNvSpPr txBox="1"/>
          <p:nvPr/>
        </p:nvSpPr>
        <p:spPr>
          <a:xfrm>
            <a:off x="152401" y="1219200"/>
            <a:ext cx="8534399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en-IN"/>
          </a:p>
          <a:p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18672F-1414-BC81-38C0-CD483CB23E66}"/>
              </a:ext>
            </a:extLst>
          </p:cNvPr>
          <p:cNvSpPr txBox="1"/>
          <p:nvPr/>
        </p:nvSpPr>
        <p:spPr>
          <a:xfrm>
            <a:off x="4724400" y="1447800"/>
            <a:ext cx="4233099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b="1"/>
          </a:p>
          <a:p>
            <a:pPr>
              <a:buNone/>
            </a:pPr>
            <a:endParaRPr lang="en-IN" b="1"/>
          </a:p>
          <a:p>
            <a:pPr>
              <a:buNone/>
            </a:pPr>
            <a:r>
              <a:rPr lang="en-IN" b="1"/>
              <a:t>Equation solved :</a:t>
            </a:r>
          </a:p>
          <a:p>
            <a:pPr>
              <a:buNone/>
            </a:pPr>
            <a:endParaRPr lang="en-IN" b="1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/>
              <a:t>Momentum Conservation (Navier-Stokes)</a:t>
            </a:r>
          </a:p>
          <a:p>
            <a:endParaRPr lang="en-IN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/>
              <a:t>Mass Conservation (Continuity)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/>
              <a:t>The Pressure Poisson Equation (PPE)</a:t>
            </a:r>
          </a:p>
          <a:p>
            <a:pPr>
              <a:buNone/>
            </a:pPr>
            <a:endParaRPr lang="en-IN"/>
          </a:p>
          <a:p>
            <a:pPr>
              <a:buNone/>
            </a:pPr>
            <a:endParaRPr lang="en-IN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AE4CF31-0E8F-7852-C743-2D4A4275F3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5400" y="2869721"/>
            <a:ext cx="2940032" cy="56723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F6632BE-97D4-2C6D-8D60-985B62DCA1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7010" y="3785699"/>
            <a:ext cx="1114091" cy="45259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BB9D431-A187-60A2-99B2-56C67E98B5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4587042"/>
            <a:ext cx="1981200" cy="56867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4D38834-98BD-B829-B703-EF1ED22A2D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26" y="1147227"/>
            <a:ext cx="3767607" cy="3091071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0DD0C49-6139-D259-5413-7938ECD316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05000" y="4238298"/>
            <a:ext cx="2362200" cy="2114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5291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8B1909-507D-CE0C-3BEF-07FD7C1DD815}"/>
              </a:ext>
            </a:extLst>
          </p:cNvPr>
          <p:cNvSpPr txBox="1"/>
          <p:nvPr/>
        </p:nvSpPr>
        <p:spPr>
          <a:xfrm>
            <a:off x="3721438" y="370309"/>
            <a:ext cx="1883496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4400">
                <a:solidFill>
                  <a:schemeClr val="tx2"/>
                </a:solidFill>
                <a:latin typeface="+mj-lt"/>
              </a:rPr>
              <a:t>Results </a:t>
            </a:r>
            <a:endParaRPr lang="en-US" sz="4400">
              <a:solidFill>
                <a:schemeClr val="tx2"/>
              </a:solidFill>
              <a:ea typeface="Calibri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3D85C3-DD4C-1723-2419-CAC8A8EFE20A}"/>
              </a:ext>
            </a:extLst>
          </p:cNvPr>
          <p:cNvSpPr txBox="1"/>
          <p:nvPr/>
        </p:nvSpPr>
        <p:spPr>
          <a:xfrm>
            <a:off x="270468" y="1272702"/>
            <a:ext cx="8871318" cy="224676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2000" b="1" i="1"/>
              <a:t>Non-Newtonian Fluid Flow: Stage-1 (OAT) Sensitivity </a:t>
            </a:r>
            <a:endParaRPr lang="en-IN" sz="2000" b="1" i="1">
              <a:ea typeface="Calibri"/>
              <a:cs typeface="Calibri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q"/>
            </a:pPr>
            <a:r>
              <a:rPr lang="en-US" altLang="en-US" sz="1600"/>
              <a:t>Parameters analyzed: μ₀, μᵢ, λ, a, n</a:t>
            </a:r>
            <a:endParaRPr lang="en-US" altLang="en-US" sz="1600">
              <a:ea typeface="Calibri"/>
              <a:cs typeface="Calibri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q"/>
            </a:pPr>
            <a:r>
              <a:rPr lang="en-US" altLang="en-US" sz="1600"/>
              <a:t>Outputs: centerline velocity (Uₘₐₓ) and volumetric flow (Q)</a:t>
            </a:r>
            <a:endParaRPr lang="en-US" altLang="en-US" sz="1600">
              <a:ea typeface="Calibri"/>
              <a:cs typeface="Calibri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q"/>
            </a:pPr>
            <a:r>
              <a:rPr lang="en-US" altLang="en-US" sz="1600"/>
              <a:t>μ₀ (zero-shear viscosity) shows </a:t>
            </a:r>
            <a:r>
              <a:rPr lang="en-US" altLang="en-US" sz="1600" b="1"/>
              <a:t>dominant negative sensitivity</a:t>
            </a:r>
            <a:r>
              <a:rPr lang="en-US" altLang="en-US" sz="1600"/>
              <a:t> for both outputs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q"/>
            </a:pPr>
            <a:r>
              <a:rPr lang="en-US" altLang="en-US" sz="1600"/>
              <a:t>Indicates flow rate and velocity are mainly governed by </a:t>
            </a:r>
            <a:r>
              <a:rPr lang="en-US" altLang="en-US" sz="1600" b="1"/>
              <a:t>μ₀</a:t>
            </a:r>
            <a:r>
              <a:rPr lang="en-US" altLang="en-US" sz="1600"/>
              <a:t>, validating the dominance of bulk viscosity in low-Re, pressure-driven microflows</a:t>
            </a:r>
            <a:endParaRPr lang="en-US" altLang="en-US" sz="1600">
              <a:ea typeface="Calibri"/>
              <a:cs typeface="Calibri"/>
            </a:endParaRPr>
          </a:p>
          <a:p>
            <a:endParaRPr lang="en-IN"/>
          </a:p>
          <a:p>
            <a:endParaRPr lang="en-US"/>
          </a:p>
        </p:txBody>
      </p:sp>
      <p:pic>
        <p:nvPicPr>
          <p:cNvPr id="9" name="Picture 8" descr="A screenshot of a graph&#10;&#10;AI-generated content may be incorrect.">
            <a:extLst>
              <a:ext uri="{FF2B5EF4-FFF2-40B4-BE49-F238E27FC236}">
                <a16:creationId xmlns:a16="http://schemas.microsoft.com/office/drawing/2014/main" id="{78A77AF3-498B-CFCD-88E8-9C20758805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234" y="3124200"/>
            <a:ext cx="7967531" cy="3285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8414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EAE9A7-3D27-397B-68B4-F72DFA07B868}"/>
              </a:ext>
            </a:extLst>
          </p:cNvPr>
          <p:cNvSpPr txBox="1"/>
          <p:nvPr/>
        </p:nvSpPr>
        <p:spPr>
          <a:xfrm>
            <a:off x="292100" y="1179689"/>
            <a:ext cx="8458200" cy="16312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2000" b="1" i="1">
                <a:ea typeface="Calibri"/>
                <a:cs typeface="Calibri"/>
              </a:rPr>
              <a:t>Non-Newtonian Fluid Flow: Stage-2 Morris Sensitivity </a:t>
            </a:r>
            <a:endParaRPr lang="en-IN" sz="2000">
              <a:ea typeface="Calibri"/>
              <a:cs typeface="Calibri"/>
            </a:endParaRPr>
          </a:p>
          <a:p>
            <a:pPr marL="285750" indent="-285750">
              <a:buFont typeface="Wingdings" pitchFamily="2" charset="2"/>
              <a:buChar char="q"/>
            </a:pPr>
            <a:r>
              <a:rPr lang="en-IN" sz="1600"/>
              <a:t>Morris method used for global screening of parameter influence</a:t>
            </a:r>
            <a:endParaRPr lang="en-IN" sz="1600">
              <a:ea typeface="Calibri"/>
              <a:cs typeface="Calibri"/>
            </a:endParaRPr>
          </a:p>
          <a:p>
            <a:pPr marL="285750" indent="-285750">
              <a:buFont typeface="Wingdings" pitchFamily="2" charset="2"/>
              <a:buChar char="q"/>
            </a:pPr>
            <a:r>
              <a:rPr lang="el-GR" sz="1600"/>
              <a:t>μ* (</a:t>
            </a:r>
            <a:r>
              <a:rPr lang="en-IN" sz="1600"/>
              <a:t>mean effect) → overall importance; </a:t>
            </a:r>
            <a:r>
              <a:rPr lang="el-GR" sz="1600"/>
              <a:t>σ → </a:t>
            </a:r>
            <a:r>
              <a:rPr lang="en-IN" sz="1600"/>
              <a:t>non-linearity / interaction</a:t>
            </a:r>
            <a:endParaRPr lang="en-IN" sz="1600">
              <a:ea typeface="Calibri"/>
              <a:cs typeface="Calibri"/>
            </a:endParaRPr>
          </a:p>
          <a:p>
            <a:pPr marL="285750" indent="-285750">
              <a:buFont typeface="Wingdings" pitchFamily="2" charset="2"/>
              <a:buChar char="q"/>
            </a:pPr>
            <a:r>
              <a:rPr lang="el-GR" sz="1600"/>
              <a:t>μ₀ </a:t>
            </a:r>
            <a:r>
              <a:rPr lang="en-IN" sz="1600"/>
              <a:t>again shows </a:t>
            </a:r>
            <a:r>
              <a:rPr lang="en-IN" sz="1600" b="1"/>
              <a:t>highest </a:t>
            </a:r>
            <a:r>
              <a:rPr lang="el-GR" sz="1600" b="1"/>
              <a:t>μ</a:t>
            </a:r>
            <a:r>
              <a:rPr lang="el-GR" sz="1600"/>
              <a:t>*, </a:t>
            </a:r>
            <a:r>
              <a:rPr lang="en-IN" sz="1600"/>
              <a:t>confirming global dominance</a:t>
            </a:r>
            <a:endParaRPr lang="en-IN" sz="1600">
              <a:ea typeface="Calibri"/>
              <a:cs typeface="Calibri"/>
            </a:endParaRPr>
          </a:p>
          <a:p>
            <a:pPr marL="285750" indent="-285750">
              <a:buFont typeface="Wingdings" pitchFamily="2" charset="2"/>
              <a:buChar char="q"/>
            </a:pPr>
            <a:r>
              <a:rPr lang="en-IN" sz="1600"/>
              <a:t>Other parameters (</a:t>
            </a:r>
            <a:r>
              <a:rPr lang="el-GR" sz="1600"/>
              <a:t>μ</a:t>
            </a:r>
            <a:r>
              <a:rPr lang="en-IN" sz="1600"/>
              <a:t>ᵢ, </a:t>
            </a:r>
            <a:r>
              <a:rPr lang="el-GR" sz="1600"/>
              <a:t>λ, </a:t>
            </a:r>
            <a:r>
              <a:rPr lang="en-IN" sz="1600"/>
              <a:t>n) cluster near origin → low impact</a:t>
            </a:r>
            <a:endParaRPr lang="en-IN" sz="1600">
              <a:ea typeface="Calibri"/>
              <a:cs typeface="Calibri"/>
            </a:endParaRPr>
          </a:p>
          <a:p>
            <a:pPr marL="285750" indent="-285750">
              <a:buFont typeface="Wingdings" pitchFamily="2" charset="2"/>
              <a:buChar char="q"/>
            </a:pPr>
            <a:r>
              <a:rPr lang="en-IN" sz="1600"/>
              <a:t>Confirms robustness of Stage-1 findings and that </a:t>
            </a:r>
            <a:r>
              <a:rPr lang="el-GR" sz="1600" b="1"/>
              <a:t>μ₀ </a:t>
            </a:r>
            <a:r>
              <a:rPr lang="en-IN" sz="1600" b="1"/>
              <a:t>drives both Uₘₐₓ and Q.</a:t>
            </a:r>
            <a:endParaRPr lang="en-IN" sz="1600">
              <a:ea typeface="Calibri"/>
              <a:cs typeface="Calibri"/>
            </a:endParaRPr>
          </a:p>
        </p:txBody>
      </p:sp>
      <p:pic>
        <p:nvPicPr>
          <p:cNvPr id="4" name="Picture 3" descr="A comparison of a graph&#10;&#10;AI-generated content may be incorrect.">
            <a:extLst>
              <a:ext uri="{FF2B5EF4-FFF2-40B4-BE49-F238E27FC236}">
                <a16:creationId xmlns:a16="http://schemas.microsoft.com/office/drawing/2014/main" id="{E7A4D1B8-6135-0A27-E415-335B7EB4D2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964" y="3048000"/>
            <a:ext cx="8174033" cy="323438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5C80299-525D-1482-A2D3-CC23B05E1DD7}"/>
              </a:ext>
            </a:extLst>
          </p:cNvPr>
          <p:cNvSpPr txBox="1"/>
          <p:nvPr/>
        </p:nvSpPr>
        <p:spPr>
          <a:xfrm>
            <a:off x="3340213" y="305020"/>
            <a:ext cx="2459557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 sz="4400">
                <a:solidFill>
                  <a:schemeClr val="tx2"/>
                </a:solidFill>
                <a:ea typeface="Calibri"/>
                <a:cs typeface="Calibri"/>
              </a:rPr>
              <a:t>Results </a:t>
            </a:r>
            <a:endParaRPr lang="en-US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2078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6288DBC-3035-AD01-5D5A-68FC6B443328}"/>
              </a:ext>
            </a:extLst>
          </p:cNvPr>
          <p:cNvSpPr txBox="1"/>
          <p:nvPr/>
        </p:nvSpPr>
        <p:spPr>
          <a:xfrm>
            <a:off x="186268" y="1552222"/>
            <a:ext cx="8534399" cy="187743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q"/>
            </a:pPr>
            <a:r>
              <a:rPr lang="en-US" altLang="en-US" sz="1600"/>
              <a:t>Parameters varied: speed (U), diffusion (D), length (L), and channel width (W)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q"/>
            </a:pPr>
            <a:r>
              <a:rPr lang="en-US" altLang="en-US" sz="1600"/>
              <a:t>Output metric: </a:t>
            </a:r>
            <a:r>
              <a:rPr lang="en-US" altLang="en-US" sz="1600" b="1"/>
              <a:t>AMI</a:t>
            </a:r>
            <a:r>
              <a:rPr lang="en-US" altLang="en-US" sz="1600"/>
              <a:t> (Absolute Mixing Index)</a:t>
            </a:r>
            <a:endParaRPr lang="en-US" altLang="en-US" sz="1600">
              <a:ea typeface="Calibri"/>
              <a:cs typeface="Calibri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q"/>
            </a:pPr>
            <a:r>
              <a:rPr lang="en-US" altLang="en-US" sz="1600"/>
              <a:t>Stage-1: width and speed most influential; diffusion and length moderately negative</a:t>
            </a:r>
            <a:endParaRPr lang="en-US" altLang="en-US" sz="1600">
              <a:ea typeface="Calibri"/>
              <a:cs typeface="Calibri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q"/>
            </a:pPr>
            <a:r>
              <a:rPr lang="en-US" altLang="en-US" sz="1600"/>
              <a:t>Stage-2 (Morris): width shows highest μ* and σ → key geometric driver</a:t>
            </a:r>
            <a:endParaRPr lang="en-US" altLang="en-US" sz="1600">
              <a:ea typeface="Calibri"/>
              <a:cs typeface="Calibri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q"/>
            </a:pPr>
            <a:endParaRPr lang="en-US" altLang="en-US" sz="1600">
              <a:ea typeface="Calibri"/>
              <a:cs typeface="Calibri"/>
            </a:endParaRPr>
          </a:p>
          <a:p>
            <a:endParaRPr lang="en-IN"/>
          </a:p>
          <a:p>
            <a:endParaRPr lang="en-US"/>
          </a:p>
        </p:txBody>
      </p:sp>
      <p:pic>
        <p:nvPicPr>
          <p:cNvPr id="6" name="Picture 5" descr="A graph of a diagram&#10;&#10;AI-generated content may be incorrect.">
            <a:extLst>
              <a:ext uri="{FF2B5EF4-FFF2-40B4-BE49-F238E27FC236}">
                <a16:creationId xmlns:a16="http://schemas.microsoft.com/office/drawing/2014/main" id="{AAEC1E22-BAD1-0649-3476-5BA94BE9AD5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1" y="2771422"/>
            <a:ext cx="4419600" cy="2270193"/>
          </a:xfrm>
          <a:prstGeom prst="rect">
            <a:avLst/>
          </a:prstGeom>
        </p:spPr>
      </p:pic>
      <p:pic>
        <p:nvPicPr>
          <p:cNvPr id="10" name="Picture 9" descr="A graph with numbers and points&#10;&#10;AI-generated content may be incorrect.">
            <a:extLst>
              <a:ext uri="{FF2B5EF4-FFF2-40B4-BE49-F238E27FC236}">
                <a16:creationId xmlns:a16="http://schemas.microsoft.com/office/drawing/2014/main" id="{50CEC20C-7F27-E956-7419-56CF3D8C888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7804" y="2591539"/>
            <a:ext cx="3504085" cy="275561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E08DD42-D155-D3A0-C3DD-E057595754EC}"/>
              </a:ext>
            </a:extLst>
          </p:cNvPr>
          <p:cNvSpPr txBox="1"/>
          <p:nvPr/>
        </p:nvSpPr>
        <p:spPr>
          <a:xfrm>
            <a:off x="184600" y="5158667"/>
            <a:ext cx="8242126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spcBef>
                <a:spcPct val="0"/>
              </a:spcBef>
              <a:spcAft>
                <a:spcPct val="0"/>
              </a:spcAft>
              <a:buFont typeface="Wingdings,Sans-Serif"/>
              <a:buChar char="q"/>
            </a:pPr>
            <a:r>
              <a:rPr lang="en-US" sz="1600">
                <a:ea typeface="Calibri"/>
                <a:cs typeface="Calibri"/>
              </a:rPr>
              <a:t>Interpretation:</a:t>
            </a:r>
          </a:p>
          <a:p>
            <a:pPr marL="742950" lvl="1" indent="-285750">
              <a:spcBef>
                <a:spcPct val="0"/>
              </a:spcBef>
              <a:spcAft>
                <a:spcPct val="0"/>
              </a:spcAft>
              <a:buFont typeface="Arial,Sans-Serif"/>
              <a:buChar char="•"/>
            </a:pPr>
            <a:r>
              <a:rPr lang="en-US" sz="1600">
                <a:ea typeface="Calibri"/>
                <a:cs typeface="Calibri"/>
              </a:rPr>
              <a:t>Increasing channel width → weaker mixing (higher AMI)</a:t>
            </a:r>
          </a:p>
          <a:p>
            <a:pPr marL="742950" lvl="1" indent="-285750">
              <a:spcBef>
                <a:spcPct val="0"/>
              </a:spcBef>
              <a:spcAft>
                <a:spcPct val="0"/>
              </a:spcAft>
              <a:buFont typeface="Arial,Sans-Serif"/>
              <a:buChar char="•"/>
            </a:pPr>
            <a:r>
              <a:rPr lang="en-US" sz="1600">
                <a:ea typeface="Calibri"/>
                <a:cs typeface="Calibri"/>
              </a:rPr>
              <a:t>Increasing speed reduces mixing efficiency due to shorter residence time</a:t>
            </a:r>
          </a:p>
          <a:p>
            <a:pPr marL="742950" lvl="1" indent="-285750">
              <a:spcBef>
                <a:spcPct val="0"/>
              </a:spcBef>
              <a:spcAft>
                <a:spcPct val="0"/>
              </a:spcAft>
              <a:buFont typeface="Arial,Sans-Serif"/>
              <a:buChar char="•"/>
            </a:pPr>
            <a:r>
              <a:rPr lang="en-US" sz="1600">
                <a:ea typeface="Calibri"/>
                <a:cs typeface="Calibri"/>
              </a:rPr>
              <a:t>Indicates geometric design (width) dominates over molecular parameters (D) in determining mixing performance</a:t>
            </a:r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611C86-907B-9855-E289-A06BA57E72BA}"/>
              </a:ext>
            </a:extLst>
          </p:cNvPr>
          <p:cNvSpPr txBox="1"/>
          <p:nvPr/>
        </p:nvSpPr>
        <p:spPr>
          <a:xfrm>
            <a:off x="269623" y="1226876"/>
            <a:ext cx="699873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 sz="2000" b="1" i="1">
                <a:ea typeface="Calibri"/>
                <a:cs typeface="Calibri"/>
              </a:rPr>
              <a:t>Sensitivity Analysis – 1D Mixing in Microchannel</a:t>
            </a:r>
            <a:endParaRPr lang="en-GB" sz="2000">
              <a:ea typeface="Calibri"/>
              <a:cs typeface="Calibri"/>
            </a:endParaRPr>
          </a:p>
          <a:p>
            <a:pPr algn="l"/>
            <a:endParaRPr lang="en-GB">
              <a:ea typeface="Calibri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6DE497-924E-FB02-EE2F-1BE3469E8983}"/>
              </a:ext>
            </a:extLst>
          </p:cNvPr>
          <p:cNvSpPr txBox="1"/>
          <p:nvPr/>
        </p:nvSpPr>
        <p:spPr>
          <a:xfrm>
            <a:off x="3648294" y="378875"/>
            <a:ext cx="2743200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 sz="4400">
                <a:solidFill>
                  <a:schemeClr val="tx2"/>
                </a:solidFill>
                <a:ea typeface="Calibri"/>
                <a:cs typeface="Calibri"/>
              </a:rPr>
              <a:t>Results </a:t>
            </a:r>
            <a:endParaRPr lang="en-US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85715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10B5CBC-E537-039F-A166-A770E5944B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918" y="1298896"/>
            <a:ext cx="6951981" cy="259115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DB91871-8C5F-7B90-5C56-3E67DA324901}"/>
              </a:ext>
            </a:extLst>
          </p:cNvPr>
          <p:cNvSpPr txBox="1"/>
          <p:nvPr/>
        </p:nvSpPr>
        <p:spPr>
          <a:xfrm>
            <a:off x="3598333" y="316089"/>
            <a:ext cx="1947649" cy="769441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IN" sz="4400">
                <a:solidFill>
                  <a:schemeClr val="tx2"/>
                </a:solidFill>
                <a:latin typeface="+mj-lt"/>
              </a:rPr>
              <a:t>Results </a:t>
            </a:r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9AD7B7D-ECDE-89C6-A9B1-6FCB09D3EA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6646" y="4040892"/>
            <a:ext cx="3574508" cy="223858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28B9B51-42CB-319D-1288-C4C90A2C54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3876286"/>
            <a:ext cx="2514601" cy="239556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00A1ACD-62BB-F5B1-92F2-FF2E5E0C0D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0999" y="3962399"/>
            <a:ext cx="2514600" cy="2395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6789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EDF7B-34AF-A150-C222-6171173A0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87AC34-AC34-BCCB-93A1-66DE020108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3886200"/>
            <a:ext cx="6453693" cy="18044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B2603F2-8670-B310-B2EA-E4FC25A898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84945"/>
            <a:ext cx="5815840" cy="19062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AAC1890-F1B7-EC59-A386-0F73F75D53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1584945"/>
            <a:ext cx="3481164" cy="19812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11C17BD-9C3F-B05A-4D0F-FD40BA1B983B}"/>
              </a:ext>
            </a:extLst>
          </p:cNvPr>
          <p:cNvSpPr txBox="1"/>
          <p:nvPr/>
        </p:nvSpPr>
        <p:spPr>
          <a:xfrm>
            <a:off x="3124200" y="304800"/>
            <a:ext cx="216116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400">
                <a:latin typeface="+mj-lt"/>
              </a:rPr>
              <a:t>RESULTS</a:t>
            </a:r>
            <a:endParaRPr lang="en-US" sz="440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342938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2D133D-D4C1-F1AF-1400-820005985335}"/>
              </a:ext>
            </a:extLst>
          </p:cNvPr>
          <p:cNvSpPr txBox="1"/>
          <p:nvPr/>
        </p:nvSpPr>
        <p:spPr>
          <a:xfrm>
            <a:off x="3124200" y="304800"/>
            <a:ext cx="269176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400">
                <a:latin typeface="+mj-lt"/>
              </a:rPr>
              <a:t>Conclusion</a:t>
            </a:r>
            <a:endParaRPr lang="en-US" sz="4400">
              <a:latin typeface="+mj-lt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5B36F0E-09F2-C068-20F0-7CE4F2620A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644" y="1585669"/>
            <a:ext cx="8991600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Calibri"/>
                <a:ea typeface="Calibri"/>
                <a:cs typeface="Calibri"/>
              </a:rPr>
              <a:t>Developed and validated 1D solvers for Non-Newtonian and Mixing microfluidic cases</a:t>
            </a:r>
            <a:endParaRPr lang="en-US" altLang="en-US" b="0" i="0" u="none" strike="noStrike" cap="none" normalizeH="0" baseline="0">
              <a:ln>
                <a:noFill/>
              </a:ln>
              <a:effectLst/>
              <a:latin typeface="Calibri"/>
              <a:ea typeface="Calibri"/>
              <a:cs typeface="Calibri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q"/>
            </a:pPr>
            <a:endParaRPr lang="en-US" altLang="en-US">
              <a:latin typeface="Calibri"/>
              <a:ea typeface="Calibri"/>
              <a:cs typeface="Calibri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Calibri"/>
                <a:ea typeface="Calibri"/>
                <a:cs typeface="Calibri"/>
              </a:rPr>
              <a:t>Performed two-stage sensitivity analysis (OAT + Morris)</a:t>
            </a:r>
            <a:endParaRPr lang="en-US" altLang="en-US" b="0" i="0" u="none" strike="noStrike" cap="none" normalizeH="0" baseline="0">
              <a:ln>
                <a:noFill/>
              </a:ln>
              <a:effectLst/>
              <a:latin typeface="Calibri"/>
              <a:ea typeface="Calibri"/>
              <a:cs typeface="Calibri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Calibri"/>
                <a:ea typeface="Calibri"/>
                <a:cs typeface="Calibri"/>
              </a:rPr>
              <a:t>μ₀ (zero-shear viscosity)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Calibri"/>
                <a:ea typeface="Calibri"/>
                <a:cs typeface="Calibri"/>
              </a:rPr>
              <a:t> – most critical for Non-Newtonian flow</a:t>
            </a:r>
            <a:endParaRPr lang="en-US" altLang="en-US" b="0" i="0" u="none" strike="noStrike" cap="none" normalizeH="0" baseline="0">
              <a:ln>
                <a:noFill/>
              </a:ln>
              <a:effectLst/>
              <a:latin typeface="Calibri"/>
              <a:ea typeface="Calibri"/>
              <a:cs typeface="Calibri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Calibri"/>
                <a:ea typeface="Calibri"/>
                <a:cs typeface="Calibri"/>
              </a:rPr>
              <a:t>Width and speed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Calibri"/>
                <a:ea typeface="Calibri"/>
                <a:cs typeface="Calibri"/>
              </a:rPr>
              <a:t> – dominant factors for Mixing efficiency</a:t>
            </a:r>
            <a:endParaRPr lang="en-US" altLang="en-US" b="0" i="0" u="none" strike="noStrike" cap="none" normalizeH="0" baseline="0">
              <a:ln>
                <a:noFill/>
              </a:ln>
              <a:effectLst/>
              <a:latin typeface="Calibri"/>
              <a:ea typeface="Calibri"/>
              <a:cs typeface="Calibri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q"/>
            </a:pPr>
            <a:endParaRPr lang="en-US" altLang="en-US">
              <a:latin typeface="Calibri"/>
              <a:ea typeface="Calibri"/>
              <a:cs typeface="Calibri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Calibri"/>
                <a:ea typeface="Calibri"/>
                <a:cs typeface="Calibri"/>
              </a:rPr>
              <a:t>1D sensitivity results consistent and physically interpretable → provide a rapid, low-cost design tool</a:t>
            </a:r>
            <a:endParaRPr lang="en-US" altLang="en-US" b="0" i="0" u="none" strike="noStrike" cap="none" normalizeH="0" baseline="0">
              <a:ln>
                <a:noFill/>
              </a:ln>
              <a:effectLst/>
              <a:latin typeface="Calibri"/>
              <a:ea typeface="Calibri"/>
              <a:cs typeface="Calibri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q"/>
            </a:pPr>
            <a:endParaRPr lang="en-US" altLang="en-US">
              <a:latin typeface="Calibri"/>
              <a:ea typeface="Calibri"/>
              <a:cs typeface="Calibri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Calibri"/>
                <a:ea typeface="Calibri"/>
                <a:cs typeface="Calibri"/>
              </a:rPr>
              <a:t>Future scope:</a:t>
            </a:r>
            <a:endParaRPr lang="en-US" altLang="en-US" b="0" i="0" u="none" strike="noStrike" cap="none" normalizeH="0" baseline="0">
              <a:ln>
                <a:noFill/>
              </a:ln>
              <a:effectLst/>
              <a:latin typeface="Calibri"/>
              <a:ea typeface="Calibri"/>
              <a:cs typeface="Calibri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Calibri"/>
                <a:ea typeface="Calibri"/>
                <a:cs typeface="Calibri"/>
              </a:rPr>
              <a:t>Extend to 2D/3D validation and hybrid correction models</a:t>
            </a:r>
            <a:endParaRPr lang="en-US" altLang="en-US" b="0" i="0" u="none" strike="noStrike" cap="none" normalizeH="0" baseline="0">
              <a:ln>
                <a:noFill/>
              </a:ln>
              <a:effectLst/>
              <a:latin typeface="Calibri"/>
              <a:ea typeface="Calibri"/>
              <a:cs typeface="Calibri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Calibri"/>
                <a:ea typeface="Calibri"/>
                <a:cs typeface="Calibri"/>
              </a:rPr>
              <a:t>Apply same framework to Droplet transport use case</a:t>
            </a:r>
            <a:endParaRPr lang="en-US" altLang="en-US" b="0" i="0" u="none" strike="noStrike" cap="none" normalizeH="0" baseline="0">
              <a:ln>
                <a:noFill/>
              </a:ln>
              <a:effectLst/>
              <a:latin typeface="Calibri"/>
              <a:ea typeface="Calibri"/>
              <a:cs typeface="Calibri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Calibri"/>
                <a:ea typeface="Calibri"/>
                <a:cs typeface="Calibri"/>
              </a:rPr>
              <a:t>Automate parameter screening for microfluidic design optimization</a:t>
            </a:r>
            <a:endParaRPr lang="en-US" altLang="en-US" b="0" i="0" u="none" strike="noStrike" cap="none" normalizeH="0" baseline="0">
              <a:ln>
                <a:noFill/>
              </a:ln>
              <a:effectLst/>
              <a:latin typeface="Calibri"/>
              <a:ea typeface="Calibri"/>
              <a:cs typeface="Ca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29727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7D05AB-E861-0A06-F5F5-D8A7B3B01646}"/>
              </a:ext>
            </a:extLst>
          </p:cNvPr>
          <p:cNvSpPr txBox="1"/>
          <p:nvPr/>
        </p:nvSpPr>
        <p:spPr>
          <a:xfrm>
            <a:off x="2632569" y="299381"/>
            <a:ext cx="4084320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4400" b="1" dirty="0">
                <a:solidFill>
                  <a:srgbClr val="1F497D"/>
                </a:solidFill>
                <a:ea typeface="Calibri"/>
                <a:cs typeface="Calibri"/>
              </a:rPr>
              <a:t>Group Members</a:t>
            </a:r>
            <a:endParaRPr lang="en-GB" sz="4400" b="1" dirty="0">
              <a:solidFill>
                <a:srgbClr val="1F497D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A12C37-F38B-C4F5-F611-BC0C87972FE9}"/>
              </a:ext>
            </a:extLst>
          </p:cNvPr>
          <p:cNvSpPr txBox="1"/>
          <p:nvPr/>
        </p:nvSpPr>
        <p:spPr>
          <a:xfrm>
            <a:off x="1373858" y="1715008"/>
            <a:ext cx="7210213" cy="41549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 b="1" dirty="0">
                <a:solidFill>
                  <a:schemeClr val="tx2"/>
                </a:solidFill>
                <a:ea typeface="Calibri"/>
                <a:cs typeface="Calibri"/>
              </a:rPr>
              <a:t>Aishwary Sharma: 2022CH11437 (Sensitivity Analysis)</a:t>
            </a:r>
            <a:endParaRPr lang="en-US" dirty="0">
              <a:solidFill>
                <a:schemeClr val="tx2"/>
              </a:solidFill>
              <a:ea typeface="Calibri"/>
              <a:cs typeface="Calibri"/>
            </a:endParaRPr>
          </a:p>
          <a:p>
            <a:r>
              <a:rPr lang="en-GB" sz="2400" b="1" dirty="0">
                <a:solidFill>
                  <a:schemeClr val="tx2"/>
                </a:solidFill>
                <a:ea typeface="Calibri"/>
                <a:cs typeface="Calibri"/>
              </a:rPr>
              <a:t>Ravi Verma: </a:t>
            </a:r>
            <a:r>
              <a:rPr lang="en-GB" sz="2400" b="1" dirty="0">
                <a:solidFill>
                  <a:schemeClr val="tx2"/>
                </a:solidFill>
                <a:latin typeface="Calibri"/>
                <a:ea typeface="Calibri"/>
                <a:cs typeface="Arial"/>
              </a:rPr>
              <a:t>2022CH71498 (2D FVM Simulation)</a:t>
            </a:r>
          </a:p>
          <a:p>
            <a:r>
              <a:rPr lang="en-GB" sz="2400" b="1" dirty="0">
                <a:solidFill>
                  <a:schemeClr val="tx2"/>
                </a:solidFill>
                <a:ea typeface="Calibri"/>
                <a:cs typeface="Calibri"/>
              </a:rPr>
              <a:t>Saroj Kumar Terai: </a:t>
            </a:r>
            <a:r>
              <a:rPr lang="en-GB" sz="2400" b="1" dirty="0">
                <a:solidFill>
                  <a:schemeClr val="tx2"/>
                </a:solidFill>
                <a:latin typeface="Calibri"/>
                <a:ea typeface="Calibri"/>
                <a:cs typeface="Arial"/>
              </a:rPr>
              <a:t>2019CH10127 (Report)</a:t>
            </a:r>
          </a:p>
          <a:p>
            <a:r>
              <a:rPr lang="en-GB" sz="2400" b="1" dirty="0">
                <a:solidFill>
                  <a:schemeClr val="tx2"/>
                </a:solidFill>
                <a:ea typeface="Calibri"/>
                <a:cs typeface="Calibri"/>
              </a:rPr>
              <a:t>Chinmay Yadav: </a:t>
            </a:r>
            <a:r>
              <a:rPr lang="en-GB" sz="2400" b="1" dirty="0">
                <a:solidFill>
                  <a:schemeClr val="tx2"/>
                </a:solidFill>
                <a:latin typeface="Calibri"/>
                <a:ea typeface="Calibri"/>
                <a:cs typeface="Arial"/>
              </a:rPr>
              <a:t>2022CH71502 (Report)</a:t>
            </a:r>
          </a:p>
          <a:p>
            <a:endParaRPr lang="en-GB" sz="2400" b="1" dirty="0">
              <a:solidFill>
                <a:schemeClr val="tx2"/>
              </a:solidFill>
              <a:latin typeface="Calibri"/>
              <a:ea typeface="Calibri"/>
              <a:cs typeface="Arial"/>
            </a:endParaRPr>
          </a:p>
          <a:p>
            <a:pPr algn="ctr"/>
            <a:r>
              <a:rPr lang="en-GB" sz="2400" b="1" dirty="0" err="1">
                <a:solidFill>
                  <a:schemeClr val="tx2"/>
                </a:solidFill>
                <a:latin typeface="Calibri"/>
                <a:ea typeface="Calibri"/>
                <a:cs typeface="Arial"/>
              </a:rPr>
              <a:t>Github</a:t>
            </a:r>
            <a:r>
              <a:rPr lang="en-GB" sz="2400" b="1" dirty="0">
                <a:solidFill>
                  <a:schemeClr val="tx2"/>
                </a:solidFill>
                <a:ea typeface="Calibri"/>
                <a:cs typeface="Arial"/>
              </a:rPr>
              <a:t> link : https://github.com/Raviverma1498/cfd_simulation</a:t>
            </a:r>
            <a:endParaRPr lang="en-GB" sz="2400" b="1" dirty="0">
              <a:solidFill>
                <a:schemeClr val="tx2"/>
              </a:solidFill>
              <a:latin typeface="Calibri"/>
              <a:ea typeface="Calibri"/>
              <a:cs typeface="Arial"/>
            </a:endParaRPr>
          </a:p>
          <a:p>
            <a:endParaRPr lang="en-GB" sz="2400" b="1" dirty="0">
              <a:solidFill>
                <a:schemeClr val="tx2"/>
              </a:solidFill>
              <a:latin typeface="Calibri"/>
              <a:ea typeface="Calibri"/>
              <a:cs typeface="Arial"/>
            </a:endParaRPr>
          </a:p>
          <a:p>
            <a:endParaRPr lang="en-GB" sz="2400" b="1" dirty="0">
              <a:solidFill>
                <a:schemeClr val="tx2"/>
              </a:solidFill>
              <a:latin typeface="Calibri"/>
              <a:ea typeface="Calibri"/>
              <a:cs typeface="Arial"/>
            </a:endParaRPr>
          </a:p>
          <a:p>
            <a:endParaRPr lang="en-GB" sz="2400" b="1" dirty="0">
              <a:solidFill>
                <a:schemeClr val="tx2"/>
              </a:solidFill>
              <a:latin typeface="Calibri"/>
              <a:ea typeface="Calibri"/>
              <a:cs typeface="Arial"/>
            </a:endParaRPr>
          </a:p>
          <a:p>
            <a:endParaRPr lang="en-GB" sz="2400" b="1" dirty="0">
              <a:solidFill>
                <a:schemeClr val="tx2"/>
              </a:solidFill>
              <a:latin typeface="Calibri"/>
              <a:ea typeface="Calibri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A4CD0A-09D2-EE9B-CC39-A9E2FCC8871D}"/>
              </a:ext>
            </a:extLst>
          </p:cNvPr>
          <p:cNvSpPr txBox="1"/>
          <p:nvPr/>
        </p:nvSpPr>
        <p:spPr>
          <a:xfrm>
            <a:off x="2632569" y="5196165"/>
            <a:ext cx="3379892" cy="851297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4400" b="1" i="1" dirty="0">
                <a:solidFill>
                  <a:srgbClr val="1F497D"/>
                </a:solidFill>
                <a:ea typeface="Calibri"/>
                <a:cs typeface="Calibri"/>
              </a:rPr>
              <a:t>Thank You!!</a:t>
            </a:r>
          </a:p>
        </p:txBody>
      </p:sp>
    </p:spTree>
    <p:extLst>
      <p:ext uri="{BB962C8B-B14F-4D97-AF65-F5344CB8AC3E}">
        <p14:creationId xmlns:p14="http://schemas.microsoft.com/office/powerpoint/2010/main" val="10423047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1768</Words>
  <Application>Microsoft Office PowerPoint</Application>
  <PresentationFormat>On-screen Show (4:3)</PresentationFormat>
  <Paragraphs>192</Paragraphs>
  <Slides>15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Arial,Sans-Serif</vt:lpstr>
      <vt:lpstr>Calibri</vt:lpstr>
      <vt:lpstr>Cambria Math</vt:lpstr>
      <vt:lpstr>Google Sans Text</vt:lpstr>
      <vt:lpstr>Wingdings</vt:lpstr>
      <vt:lpstr>Wingdings,Sans-Serif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XPS</dc:creator>
  <cp:lastModifiedBy>Ravi Kumar</cp:lastModifiedBy>
  <cp:revision>90</cp:revision>
  <dcterms:created xsi:type="dcterms:W3CDTF">2020-09-22T05:08:41Z</dcterms:created>
  <dcterms:modified xsi:type="dcterms:W3CDTF">2025-11-16T20:06:32Z</dcterms:modified>
</cp:coreProperties>
</file>